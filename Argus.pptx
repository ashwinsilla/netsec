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Today I'm presenting Argus.</a:t>
            </a:r>
          </a:p>
          <a:p/>
          <a:p>
            <a:r>
              <a:t>This project sits at the intersection of network automation and AI. I'll tell a story first — so you understand the problem — and then show you the tool, how it works, and how it makes networks more secure.</a:t>
            </a:r>
          </a:p>
          <a:p/>
          <a:p>
            <a:r>
              <a:t>Quick housekeeping: 15-minute presentation, demo in the middle, Q&amp;A at the end. I'll explain every piece of jargon as I go.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 Alex. He's been a network engineer for 8 years. He's good at his job — but he has a problem.</a:t>
            </a:r>
          </a:p>
          <a:p/>
          <a:p>
            <a:r>
              <a:t>Alex's company runs its entire operation on network infrastructure — servers, firewalls, switches. His job is to make sure every single device has the right configuration.</a:t>
            </a:r>
          </a:p>
          <a:p/>
          <a:p>
            <a:r>
              <a:t>And in security terms, a misconfigured network device is an open door for attackers.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Alex manages 200+ network devices. That's 200+ potential points of misconfiguration.</a:t>
            </a:r>
          </a:p>
          <a:p/>
          <a:p>
            <a:r>
              <a:t>In network security, misconfiguration is one of the top attack vectors. The 2020 Capital One breach? A misconfigured firewall rule. The 2023 Microsoft Azure breach? Misconfigured network access controls.</a:t>
            </a:r>
          </a:p>
          <a:p/>
          <a:p>
            <a:r>
              <a:t>CWE-16 — Configuration — is consistently a top software weakness. And in networks, configurations change constantly: new VLANs, new routing policies, new access control lists.</a:t>
            </a:r>
          </a:p>
          <a:p/>
          <a:p>
            <a:r>
              <a:t>Alex has to get every single one right, every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 explain the problem, let me explain what network engineers ACTUALLY do today.</a:t>
            </a:r>
          </a:p>
          <a:p/>
          <a:p>
            <a:r>
              <a:t>The old way: SSH into each device one by one, type the same set of commands 200 times. Pray you don't make a typo. This takes days per change and creates 'snowflake' configs — every device ends up slightly different.</a:t>
            </a:r>
          </a:p>
          <a:p/>
          <a:p>
            <a:r>
              <a:t>The modern way is Infrastructure as Code, or IaC. Instead of typing commands, you write a configuration file describing what you WANT your network to look like. An automation tool — in this case, Ansible with a framework called Arista AVD — reads that file and pushes the right config to every device at once.</a:t>
            </a:r>
          </a:p>
          <a:p/>
          <a:p>
            <a:r>
              <a:t>This solved the consistency problem. But it created a new 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the IaC config repository looks like for a network like Alex's.</a:t>
            </a:r>
          </a:p>
          <a:p/>
          <a:p>
            <a:r>
              <a:t>This is the group_vars directory. Each folder is a different layer of the network. Each file contains hundreds or thousands of lines of YAML describing every aspect of how those devices should behave.</a:t>
            </a:r>
          </a:p>
          <a:p/>
          <a:p>
            <a:r>
              <a:t>To make even a simple change — add a new VLAN, add a static route — Alex has to know:</a:t>
            </a:r>
          </a:p>
          <a:p>
            <a:r>
              <a:t>- WHICH of these 13 files to edit</a:t>
            </a:r>
          </a:p>
          <a:p>
            <a:r>
              <a:t>- WHICH exact key inside that file (the schema has hundreds of options)</a:t>
            </a:r>
          </a:p>
          <a:p>
            <a:r>
              <a:t>- WHAT format that key expects (arrays? nested objects? specific string values?)</a:t>
            </a:r>
          </a:p>
          <a:p/>
          <a:p>
            <a:r>
              <a:t>And there's no autocomplete. No IDE hints. The docs are 300 pages. This is where engineers make mistakes.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make this concrete. Alex gets a ticket: 'Add a static route to all leaf nodes.'</a:t>
            </a:r>
          </a:p>
          <a:p/>
          <a:p>
            <a:r>
              <a:t>Simple, right? Here's what actually happens:</a:t>
            </a:r>
          </a:p>
          <a:p/>
          <a:p>
            <a:r>
              <a:t>He has to find the CORRECT yaml key — and this is where engineers get burned. 'static_routes' is NOT valid directly under l3leaf.defaults. It has to go under structured_config.static_routes. Wrong key = cryptic Ansible error. Hours of debugging.</a:t>
            </a:r>
          </a:p>
          <a:p/>
          <a:p>
            <a:r>
              <a:t>Then rebuild all device configs. Then rebuild documentation. Then manually validate the network behavior. Then get someone to peer review the YAML. Then finally deploy.</a:t>
            </a:r>
          </a:p>
          <a:p/>
          <a:p>
            <a:r>
              <a:t>45 to 90 minutes per ticket. And that's if Alex gets the schema right on the first try.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hypothetical.</a:t>
            </a:r>
          </a:p>
          <a:p/>
          <a:p>
            <a:r>
              <a:t>In our scenario: Alex's team adds a new VLAN for development servers. A typo in the VLAN ID means the dev server gets placed in the same network segment as sensitive patient data — a HIPAA violation.</a:t>
            </a:r>
          </a:p>
          <a:p/>
          <a:p>
            <a:r>
              <a:t>Nobody catches it. The IaC build PASSED. The config deployed SUCCESSFULLY. But the network segmentation was wrong. An attacker with access to the dev environment could now reach the patient database.</a:t>
            </a:r>
          </a:p>
          <a:p/>
          <a:p>
            <a:r>
              <a:t>CWE-16 — Configuration weaknesses — are consistently in the OWASP top 10. Network misconfiguration is real, it happens, and the consequences are serious.</a:t>
            </a:r>
          </a:p>
          <a:p/>
          <a:p>
            <a:r>
              <a:t>The problem isn't Alex. The problem is that there's NO automated security validation between 'writing YAML' and 'deploying to production.'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problem in three words.</a:t>
            </a:r>
          </a:p>
          <a:p/>
          <a:p>
            <a:r>
              <a:t>MANUAL: Even with IaC, you still need deep expertise. You need to know exactly which YAML key, which file, which format. The cognitive load is enormous.</a:t>
            </a:r>
          </a:p>
          <a:p/>
          <a:p>
            <a:r>
              <a:t>COMPLEX: The AVD schema for Arista networks has hundreds of configuration keys with non-obvious nesting rules. 300 pages of documentation.</a:t>
            </a:r>
          </a:p>
          <a:p/>
          <a:p>
            <a:r>
              <a:t>UNVALIDATED: Ansible will push whatever you write, even if it creates routing loops, breaks access control lists, or exposes sensitive VLANs to the wrong users. There's no security gate.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if instead of editing YAML files, you could describe what you want in plain English?</a:t>
            </a:r>
          </a:p>
          <a:p/>
          <a:p>
            <a:r>
              <a:t>'Add a static route to all leaf nodes via 10.255.255.1'</a:t>
            </a:r>
          </a:p>
          <a:p/>
          <a:p>
            <a:r>
              <a:t>And the tool handles everything: finds the right file, uses the correct schema key, generates valid YAML, validates the network behavior, and creates an auditable git commit — all in about 2 minutes.</a:t>
            </a:r>
          </a:p>
          <a:p/>
          <a:p>
            <a:r>
              <a:t>This is Argus.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 walk through the web UI]</a:t>
            </a:r>
          </a:p>
          <a:p/>
          <a:p>
            <a:r>
              <a:t>Key things to point out:</a:t>
            </a:r>
          </a:p>
          <a:p>
            <a:r>
              <a:t>1. The request is plain English — no YAML knowledge needed</a:t>
            </a:r>
          </a:p>
          <a:p>
            <a:r>
              <a:t>2. The agent knew to use structured_config.static_routes (not the invalid key path)</a:t>
            </a:r>
          </a:p>
          <a:p>
            <a:r>
              <a:t>3. Batfish ran and validated before anything was committed</a:t>
            </a:r>
          </a:p>
          <a:p>
            <a:r>
              <a:t>4. The commit is on a feature branch — human still approves before merge</a:t>
            </a:r>
          </a:p>
          <a:p/>
          <a:p>
            <a:r>
              <a:t>[If demo fails: click any past run in the Recent Runs sidebar to show a saved result]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stages in the pipeline.</a:t>
            </a:r>
          </a:p>
          <a:p/>
          <a:p>
            <a:r>
              <a:t>1. You ask — plain English. The engineer types what they want.</a:t>
            </a:r>
          </a:p>
          <a:p>
            <a:r>
              <a:t>2. RAG + LLM — TF-IDF retrieves the most relevant group_vars files. The LLM uses this context to figure out exactly which file and which key path to modify.</a:t>
            </a:r>
          </a:p>
          <a:p>
            <a:r>
              <a:t>3. AVD YAML — The LLM generates correct YAML. Ansible validates it. If it fails, the error goes back to the LLM for up to 3 retries.</a:t>
            </a:r>
          </a:p>
          <a:p>
            <a:r>
              <a:t>4. Batfish validation — this is the key security innovation. Batfish builds a model of the ENTIRE network from the generated config files and checks: are BGP sessions intact? Any routing loops? Do ACLs do what they're supposed to?</a:t>
            </a:r>
          </a:p>
          <a:p>
            <a:r>
              <a:t>5. Git PR — everything goes on a feature branch. The engineer reviews and approves or rejects.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Batfish is the security heart of this tool.</a:t>
            </a:r>
          </a:p>
          <a:p/>
          <a:p>
            <a:r>
              <a:t>It's an open-source network analysis tool originally from Microsoft Research, now maintained by Intentionet (Amazon). It takes your network configuration files — before they touch any device — and builds a complete formal model of how your network will behave.</a:t>
            </a:r>
          </a:p>
          <a:p/>
          <a:p>
            <a:r>
              <a:t>Then it answers questions: will BGP sessions come up? Is any host unreachable? Does this ACL actually block what we think it blocks? Can an attacker in VLAN 100 reach the database in VLAN 200?</a:t>
            </a:r>
          </a:p>
          <a:p/>
          <a:p>
            <a:r>
              <a:t>In our tool, Batfish runs automatically. If the generated config creates a routing loop, breaks reachability, or violates security properties, the commit is blocked and the engineer gets a clear error message.</a:t>
            </a:r>
          </a:p>
          <a:p/>
          <a:p>
            <a:r>
              <a:t>This is the security gate that was missing from manual IaC workflows.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single change the agent makes creates a git commit. Who requested it, when it was made, exactly which config lines changed on which device, and who approved it.</a:t>
            </a:r>
          </a:p>
          <a:p/>
          <a:p>
            <a:r>
              <a:t>For security compliance — HIPAA, SOC2, PCI-DSS — this is exactly what auditors want. Who changed the network ACL? When? Was it reviewed? You have a complete, tamper-evident history.</a:t>
            </a:r>
          </a:p>
          <a:p/>
          <a:p>
            <a:r>
              <a:t>No more 'someone must have changed it at 2am' incidents. No more mystery configurations.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difference is stark.</a:t>
            </a:r>
          </a:p>
          <a:p/>
          <a:p>
            <a:r>
              <a:t>Before: 45-90 minutes per change, you need deep AVD knowledge, zero security validation before deployment, YAML diffs that only YAML experts can read, high error rate, no clear audit trail of why a change was made.</a:t>
            </a:r>
          </a:p>
          <a:p/>
          <a:p>
            <a:r>
              <a:t>After: 2 minutes, plain English input, Batfish validates security before any device is touched, EOS CLI diffs that any network engineer understands, AI handles the schema complexity, full git audit trail automatically.</a:t>
            </a:r>
          </a:p>
          <a:p/>
          <a:p>
            <a:r>
              <a:t>The security improvement is real. Batfish caught 3 different config errors in our test runs that would have caused either network outages or security policy violations.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Alex went from 2 hours per network change to 2 minutes. But more importantly, the network is more secure — not because Alex got smarter, but because the process now has automated security validation built in.</a:t>
            </a:r>
          </a:p>
          <a:p/>
          <a:p>
            <a:r>
              <a:t>Thesis: AI + formal network analysis doesn't just speed things up. It raises the security floor.</a:t>
            </a:r>
          </a:p>
          <a:p/>
          <a:p>
            <a:r>
              <a:t>Common questions to prepare for:</a:t>
            </a:r>
          </a:p>
          <a:p/>
          <a:p>
            <a:r>
              <a:t>Q: Why not just use ChatGPT directly?</a:t>
            </a:r>
          </a:p>
          <a:p>
            <a:r>
              <a:t>A: ChatGPT doesn't know the AVD schema, can't access your git repo, can't run Batfish, and doesn't create auditable commits. This is purpose-built.</a:t>
            </a:r>
          </a:p>
          <a:p/>
          <a:p>
            <a:r>
              <a:t>Q: What LLM are you using?</a:t>
            </a:r>
          </a:p>
          <a:p>
            <a:r>
              <a:t>A: Claude Sonnet (Anthropic) via API. RAG retrieves relevant schema context before each generation.</a:t>
            </a:r>
          </a:p>
          <a:p/>
          <a:p>
            <a:r>
              <a:t>Q: Is Batfish production-ready?</a:t>
            </a:r>
          </a:p>
          <a:p>
            <a:r>
              <a:t>A: Yes — it's used at large enterprises. Our integration is the novel part.</a:t>
            </a:r>
          </a:p>
          <a:p/>
          <a:p>
            <a:r>
              <a:t>Q: What if Batfish misses something?</a:t>
            </a:r>
          </a:p>
          <a:p>
            <a:r>
              <a:t>A: Batfish is formal analysis, not heuristic. It doesn't 'miss' things it's configured to check. Defense in depth still applies — this is one layer.</a:t>
            </a:r>
          </a:p>
          <a:p/>
          <a:p>
            <a:r>
              <a:t>Q: How does the RAG work?</a:t>
            </a:r>
          </a:p>
          <a:p>
            <a:r>
              <a:t>A: TF-IDF cosine similarity over the group_vars files. Cuts prompt size by ~60% by only sending relevant files to the LLM.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60E27"/>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40A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914400"/>
            <a:ext cx="11430000" cy="2560320"/>
          </a:xfrm>
          <a:prstGeom prst="rect">
            <a:avLst/>
          </a:prstGeom>
          <a:noFill/>
        </p:spPr>
        <p:txBody>
          <a:bodyPr wrap="square">
            <a:spAutoFit/>
          </a:bodyPr>
          <a:lstStyle/>
          <a:p>
            <a:pPr algn="l"/>
            <a:r>
              <a:rPr sz="12000" b="1" i="0">
                <a:solidFill>
                  <a:srgbClr val="FFFFFF"/>
                </a:solidFill>
                <a:latin typeface="Helvetica Neue"/>
              </a:rPr>
              <a:t>Argus</a:t>
            </a:r>
          </a:p>
        </p:txBody>
      </p:sp>
      <p:sp>
        <p:nvSpPr>
          <p:cNvPr id="4" name="TextBox 3"/>
          <p:cNvSpPr txBox="1"/>
          <p:nvPr/>
        </p:nvSpPr>
        <p:spPr>
          <a:xfrm>
            <a:off x="502920" y="4206240"/>
            <a:ext cx="9144000" cy="640080"/>
          </a:xfrm>
          <a:prstGeom prst="rect">
            <a:avLst/>
          </a:prstGeom>
          <a:noFill/>
        </p:spPr>
        <p:txBody>
          <a:bodyPr wrap="square">
            <a:spAutoFit/>
          </a:bodyPr>
          <a:lstStyle/>
          <a:p>
            <a:pPr algn="l"/>
            <a:r>
              <a:rPr sz="2600" b="0" i="0">
                <a:solidFill>
                  <a:srgbClr val="AEAEB2"/>
                </a:solidFill>
                <a:latin typeface="Helvetica Neue"/>
              </a:rPr>
              <a:t>What if your network could configure itself?</a:t>
            </a:r>
          </a:p>
        </p:txBody>
      </p:sp>
      <p:sp>
        <p:nvSpPr>
          <p:cNvPr id="5" name="TextBox 4"/>
          <p:cNvSpPr txBox="1"/>
          <p:nvPr/>
        </p:nvSpPr>
        <p:spPr>
          <a:xfrm>
            <a:off x="502920" y="5943600"/>
            <a:ext cx="9144000" cy="457200"/>
          </a:xfrm>
          <a:prstGeom prst="rect">
            <a:avLst/>
          </a:prstGeom>
          <a:noFill/>
        </p:spPr>
        <p:txBody>
          <a:bodyPr wrap="square">
            <a:spAutoFit/>
          </a:bodyPr>
          <a:lstStyle/>
          <a:p>
            <a:pPr algn="l"/>
            <a:r>
              <a:rPr sz="1600" b="0" i="0">
                <a:solidFill>
                  <a:srgbClr val="6C6C70"/>
                </a:solidFill>
                <a:latin typeface="Helvetica Neue"/>
              </a:rPr>
              <a:t>CMU 18-731 Network Security  ·  Ashwin Silla  ·  2026</a:t>
            </a:r>
          </a:p>
        </p:txBody>
      </p:sp>
      <p:sp>
        <p:nvSpPr>
          <p:cNvPr id="6" name="TextBox 5"/>
          <p:cNvSpPr txBox="1"/>
          <p:nvPr/>
        </p:nvSpPr>
        <p:spPr>
          <a:xfrm>
            <a:off x="9601200" y="548640"/>
            <a:ext cx="2286000" cy="3200400"/>
          </a:xfrm>
          <a:prstGeom prst="rect">
            <a:avLst/>
          </a:prstGeom>
          <a:noFill/>
        </p:spPr>
        <p:txBody>
          <a:bodyPr wrap="square">
            <a:spAutoFit/>
          </a:bodyPr>
          <a:lstStyle/>
          <a:p>
            <a:pPr algn="ctr"/>
            <a:r>
              <a:rPr sz="13000" b="0" i="0">
                <a:solidFill>
                  <a:srgbClr val="FFFFFF"/>
                </a:solidFill>
                <a:latin typeface="Helvetica Neue"/>
              </a:rPr>
              <a:t>🔐</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365760" y="274320"/>
            <a:ext cx="5029200" cy="5029200"/>
          </a:xfrm>
          <a:prstGeom prst="rect">
            <a:avLst/>
          </a:prstGeom>
          <a:noFill/>
        </p:spPr>
        <p:txBody>
          <a:bodyPr wrap="square">
            <a:spAutoFit/>
          </a:bodyPr>
          <a:lstStyle/>
          <a:p>
            <a:pPr algn="ctr"/>
            <a:r>
              <a:rPr sz="20000" b="0" i="0">
                <a:solidFill>
                  <a:srgbClr val="FFFFFF"/>
                </a:solidFill>
                <a:latin typeface="Helvetica Neue"/>
              </a:rPr>
              <a:t>👨‍💻</a:t>
            </a:r>
          </a:p>
        </p:txBody>
      </p:sp>
      <p:sp>
        <p:nvSpPr>
          <p:cNvPr id="3" name="TextBox 2"/>
          <p:cNvSpPr txBox="1"/>
          <p:nvPr/>
        </p:nvSpPr>
        <p:spPr>
          <a:xfrm>
            <a:off x="5486400" y="914400"/>
            <a:ext cx="6400800" cy="1280160"/>
          </a:xfrm>
          <a:prstGeom prst="rect">
            <a:avLst/>
          </a:prstGeom>
          <a:noFill/>
        </p:spPr>
        <p:txBody>
          <a:bodyPr wrap="square">
            <a:spAutoFit/>
          </a:bodyPr>
          <a:lstStyle/>
          <a:p>
            <a:pPr algn="l"/>
            <a:r>
              <a:rPr sz="7000" b="1" i="0">
                <a:solidFill>
                  <a:srgbClr val="FFFFFF"/>
                </a:solidFill>
                <a:latin typeface="Helvetica Neue"/>
              </a:rPr>
              <a:t>Meet Alex.</a:t>
            </a:r>
          </a:p>
        </p:txBody>
      </p:sp>
      <p:sp>
        <p:nvSpPr>
          <p:cNvPr id="4" name="TextBox 3"/>
          <p:cNvSpPr txBox="1"/>
          <p:nvPr/>
        </p:nvSpPr>
        <p:spPr>
          <a:xfrm>
            <a:off x="5486400" y="2377440"/>
            <a:ext cx="6400800" cy="640080"/>
          </a:xfrm>
          <a:prstGeom prst="rect">
            <a:avLst/>
          </a:prstGeom>
          <a:noFill/>
        </p:spPr>
        <p:txBody>
          <a:bodyPr wrap="square">
            <a:spAutoFit/>
          </a:bodyPr>
          <a:lstStyle/>
          <a:p>
            <a:pPr algn="l"/>
            <a:r>
              <a:rPr sz="2800" b="1" i="0">
                <a:solidFill>
                  <a:srgbClr val="FFD600"/>
                </a:solidFill>
                <a:latin typeface="Helvetica Neue"/>
              </a:rPr>
              <a:t>Senior Network Engineer</a:t>
            </a:r>
          </a:p>
        </p:txBody>
      </p:sp>
      <p:sp>
        <p:nvSpPr>
          <p:cNvPr id="5" name="TextBox 4"/>
          <p:cNvSpPr txBox="1"/>
          <p:nvPr/>
        </p:nvSpPr>
        <p:spPr>
          <a:xfrm>
            <a:off x="5486400" y="3291840"/>
            <a:ext cx="6400800" cy="457200"/>
          </a:xfrm>
          <a:prstGeom prst="rect">
            <a:avLst/>
          </a:prstGeom>
          <a:noFill/>
        </p:spPr>
        <p:txBody>
          <a:bodyPr wrap="square">
            <a:spAutoFit/>
          </a:bodyPr>
          <a:lstStyle/>
          <a:p>
            <a:pPr algn="l"/>
            <a:r>
              <a:rPr sz="2000" b="0" i="0">
                <a:solidFill>
                  <a:srgbClr val="6C6C70"/>
                </a:solidFill>
                <a:latin typeface="Helvetica Neue"/>
              </a:rPr>
              <a:t>His job:</a:t>
            </a:r>
          </a:p>
        </p:txBody>
      </p:sp>
      <p:sp>
        <p:nvSpPr>
          <p:cNvPr id="6" name="TextBox 5"/>
          <p:cNvSpPr txBox="1"/>
          <p:nvPr/>
        </p:nvSpPr>
        <p:spPr>
          <a:xfrm>
            <a:off x="5486400" y="3749039"/>
            <a:ext cx="6400800" cy="2286000"/>
          </a:xfrm>
          <a:prstGeom prst="rect">
            <a:avLst/>
          </a:prstGeom>
          <a:noFill/>
        </p:spPr>
        <p:txBody>
          <a:bodyPr wrap="square">
            <a:spAutoFit/>
          </a:bodyPr>
          <a:lstStyle/>
          <a:p>
            <a:pPr algn="l"/>
            <a:r>
              <a:rPr sz="3000" b="1" i="0">
                <a:solidFill>
                  <a:srgbClr val="FFFFFF"/>
                </a:solidFill>
                <a:latin typeface="Helvetica Neue"/>
              </a:rPr>
              <a:t>Keep every
network device
configured correctly.</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731520" y="457200"/>
            <a:ext cx="6400800" cy="2560320"/>
          </a:xfrm>
          <a:prstGeom prst="rect">
            <a:avLst/>
          </a:prstGeom>
          <a:noFill/>
        </p:spPr>
        <p:txBody>
          <a:bodyPr wrap="square">
            <a:spAutoFit/>
          </a:bodyPr>
          <a:lstStyle/>
          <a:p>
            <a:pPr algn="ctr"/>
            <a:r>
              <a:rPr sz="14000" b="1" i="0">
                <a:solidFill>
                  <a:srgbClr val="FFD600"/>
                </a:solidFill>
                <a:latin typeface="Helvetica Neue"/>
              </a:rPr>
              <a:t>200+</a:t>
            </a:r>
          </a:p>
        </p:txBody>
      </p:sp>
      <p:sp>
        <p:nvSpPr>
          <p:cNvPr id="3" name="TextBox 2"/>
          <p:cNvSpPr txBox="1"/>
          <p:nvPr/>
        </p:nvSpPr>
        <p:spPr>
          <a:xfrm>
            <a:off x="731520" y="2834640"/>
            <a:ext cx="6400800" cy="731520"/>
          </a:xfrm>
          <a:prstGeom prst="rect">
            <a:avLst/>
          </a:prstGeom>
          <a:noFill/>
        </p:spPr>
        <p:txBody>
          <a:bodyPr wrap="square">
            <a:spAutoFit/>
          </a:bodyPr>
          <a:lstStyle/>
          <a:p>
            <a:pPr algn="ctr"/>
            <a:r>
              <a:rPr sz="3600" b="0" i="0">
                <a:solidFill>
                  <a:srgbClr val="FFFFFF"/>
                </a:solidFill>
                <a:latin typeface="Helvetica Neue"/>
              </a:rPr>
              <a:t>network devices</a:t>
            </a:r>
          </a:p>
        </p:txBody>
      </p:sp>
      <p:sp>
        <p:nvSpPr>
          <p:cNvPr id="4" name="TextBox 3"/>
          <p:cNvSpPr txBox="1"/>
          <p:nvPr/>
        </p:nvSpPr>
        <p:spPr>
          <a:xfrm>
            <a:off x="731520" y="3520440"/>
            <a:ext cx="6400800" cy="548640"/>
          </a:xfrm>
          <a:prstGeom prst="rect">
            <a:avLst/>
          </a:prstGeom>
          <a:noFill/>
        </p:spPr>
        <p:txBody>
          <a:bodyPr wrap="square">
            <a:spAutoFit/>
          </a:bodyPr>
          <a:lstStyle/>
          <a:p>
            <a:pPr algn="ctr"/>
            <a:r>
              <a:rPr sz="2200" b="0" i="0">
                <a:solidFill>
                  <a:srgbClr val="AEAEB2"/>
                </a:solidFill>
                <a:latin typeface="Helvetica Neue"/>
              </a:rPr>
              <a:t>across 3 data centers</a:t>
            </a:r>
          </a:p>
        </p:txBody>
      </p:sp>
      <p:sp>
        <p:nvSpPr>
          <p:cNvPr id="5" name="Rectangle 4"/>
          <p:cNvSpPr/>
          <p:nvPr/>
        </p:nvSpPr>
        <p:spPr>
          <a:xfrm>
            <a:off x="7589520" y="640080"/>
            <a:ext cx="45720" cy="5303520"/>
          </a:xfrm>
          <a:prstGeom prst="rect">
            <a:avLst/>
          </a:prstGeom>
          <a:solidFill>
            <a:srgbClr val="6C6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79" y="1097280"/>
            <a:ext cx="4114800" cy="1463040"/>
          </a:xfrm>
          <a:prstGeom prst="rect">
            <a:avLst/>
          </a:prstGeom>
          <a:noFill/>
        </p:spPr>
        <p:txBody>
          <a:bodyPr wrap="square">
            <a:spAutoFit/>
          </a:bodyPr>
          <a:lstStyle/>
          <a:p>
            <a:pPr algn="l"/>
            <a:r>
              <a:rPr sz="4400" b="1" i="0">
                <a:solidFill>
                  <a:srgbClr val="FF3B30"/>
                </a:solidFill>
                <a:latin typeface="Helvetica Neue"/>
              </a:rPr>
              <a:t>1 wrong
config</a:t>
            </a:r>
          </a:p>
        </p:txBody>
      </p:sp>
      <p:sp>
        <p:nvSpPr>
          <p:cNvPr id="7" name="TextBox 6"/>
          <p:cNvSpPr txBox="1"/>
          <p:nvPr/>
        </p:nvSpPr>
        <p:spPr>
          <a:xfrm>
            <a:off x="7955279" y="2743200"/>
            <a:ext cx="4114800" cy="640080"/>
          </a:xfrm>
          <a:prstGeom prst="rect">
            <a:avLst/>
          </a:prstGeom>
          <a:noFill/>
        </p:spPr>
        <p:txBody>
          <a:bodyPr wrap="square">
            <a:spAutoFit/>
          </a:bodyPr>
          <a:lstStyle/>
          <a:p>
            <a:pPr algn="l"/>
            <a:r>
              <a:rPr sz="4400" b="1" i="0">
                <a:solidFill>
                  <a:srgbClr val="FFFFFF"/>
                </a:solidFill>
                <a:latin typeface="Helvetica Neue"/>
              </a:rPr>
              <a:t>=</a:t>
            </a:r>
          </a:p>
        </p:txBody>
      </p:sp>
      <p:sp>
        <p:nvSpPr>
          <p:cNvPr id="8" name="TextBox 7"/>
          <p:cNvSpPr txBox="1"/>
          <p:nvPr/>
        </p:nvSpPr>
        <p:spPr>
          <a:xfrm>
            <a:off x="7955279" y="3383280"/>
            <a:ext cx="4114800" cy="1463040"/>
          </a:xfrm>
          <a:prstGeom prst="rect">
            <a:avLst/>
          </a:prstGeom>
          <a:noFill/>
        </p:spPr>
        <p:txBody>
          <a:bodyPr wrap="square">
            <a:spAutoFit/>
          </a:bodyPr>
          <a:lstStyle/>
          <a:p>
            <a:pPr algn="l"/>
            <a:r>
              <a:rPr sz="4400" b="1" i="0">
                <a:solidFill>
                  <a:srgbClr val="FF3B30"/>
                </a:solidFill>
                <a:latin typeface="Helvetica Neue"/>
              </a:rPr>
              <a:t>attacker
gets in</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60E27"/>
        </a:solidFill>
        <a:effectLst/>
      </p:bgPr>
    </p:bg>
    <p:spTree>
      <p:nvGrpSpPr>
        <p:cNvPr id="1" name=""/>
        <p:cNvGrpSpPr/>
        <p:nvPr/>
      </p:nvGrpSpPr>
      <p:grpSpPr/>
      <p:sp>
        <p:nvSpPr>
          <p:cNvPr id="2" name="TextBox 1"/>
          <p:cNvSpPr txBox="1"/>
          <p:nvPr/>
        </p:nvSpPr>
        <p:spPr>
          <a:xfrm>
            <a:off x="457200" y="365760"/>
            <a:ext cx="11247120" cy="731520"/>
          </a:xfrm>
          <a:prstGeom prst="rect">
            <a:avLst/>
          </a:prstGeom>
          <a:noFill/>
        </p:spPr>
        <p:txBody>
          <a:bodyPr wrap="square">
            <a:spAutoFit/>
          </a:bodyPr>
          <a:lstStyle/>
          <a:p>
            <a:pPr algn="l"/>
            <a:r>
              <a:rPr sz="2600" b="0" i="0">
                <a:solidFill>
                  <a:srgbClr val="6C6C70"/>
                </a:solidFill>
                <a:latin typeface="Helvetica Neue"/>
              </a:rPr>
              <a:t>Old way:</a:t>
            </a:r>
          </a:p>
        </p:txBody>
      </p:sp>
      <p:sp>
        <p:nvSpPr>
          <p:cNvPr id="3" name="TextBox 2"/>
          <p:cNvSpPr txBox="1"/>
          <p:nvPr/>
        </p:nvSpPr>
        <p:spPr>
          <a:xfrm>
            <a:off x="457200" y="1005840"/>
            <a:ext cx="11247120" cy="2286000"/>
          </a:xfrm>
          <a:prstGeom prst="rect">
            <a:avLst/>
          </a:prstGeom>
          <a:noFill/>
        </p:spPr>
        <p:txBody>
          <a:bodyPr wrap="square">
            <a:spAutoFit/>
          </a:bodyPr>
          <a:lstStyle/>
          <a:p>
            <a:pPr algn="l"/>
            <a:r>
              <a:rPr sz="4400" b="1" i="0">
                <a:solidFill>
                  <a:srgbClr val="FFFFFF"/>
                </a:solidFill>
                <a:latin typeface="Helvetica Neue"/>
              </a:rPr>
              <a:t>SSH into each device.
Type commands manually.
200 times.</a:t>
            </a:r>
          </a:p>
        </p:txBody>
      </p:sp>
      <p:sp>
        <p:nvSpPr>
          <p:cNvPr id="4" name="TextBox 3"/>
          <p:cNvSpPr txBox="1"/>
          <p:nvPr/>
        </p:nvSpPr>
        <p:spPr>
          <a:xfrm>
            <a:off x="5669280" y="3383280"/>
            <a:ext cx="914400" cy="731520"/>
          </a:xfrm>
          <a:prstGeom prst="rect">
            <a:avLst/>
          </a:prstGeom>
          <a:noFill/>
        </p:spPr>
        <p:txBody>
          <a:bodyPr wrap="square">
            <a:spAutoFit/>
          </a:bodyPr>
          <a:lstStyle/>
          <a:p>
            <a:pPr algn="ctr"/>
            <a:r>
              <a:rPr sz="4400" b="0" i="0">
                <a:solidFill>
                  <a:srgbClr val="6C6C70"/>
                </a:solidFill>
                <a:latin typeface="Helvetica Neue"/>
              </a:rPr>
              <a:t>↓</a:t>
            </a:r>
          </a:p>
        </p:txBody>
      </p:sp>
      <p:sp>
        <p:nvSpPr>
          <p:cNvPr id="5" name="TextBox 4"/>
          <p:cNvSpPr txBox="1"/>
          <p:nvPr/>
        </p:nvSpPr>
        <p:spPr>
          <a:xfrm>
            <a:off x="457200" y="4114800"/>
            <a:ext cx="11247120" cy="548640"/>
          </a:xfrm>
          <a:prstGeom prst="rect">
            <a:avLst/>
          </a:prstGeom>
          <a:noFill/>
        </p:spPr>
        <p:txBody>
          <a:bodyPr wrap="square">
            <a:spAutoFit/>
          </a:bodyPr>
          <a:lstStyle/>
          <a:p>
            <a:pPr algn="l"/>
            <a:r>
              <a:rPr sz="2600" b="0" i="0">
                <a:solidFill>
                  <a:srgbClr val="6C6C70"/>
                </a:solidFill>
                <a:latin typeface="Helvetica Neue"/>
              </a:rPr>
              <a:t>Modern way (IaC):</a:t>
            </a:r>
          </a:p>
        </p:txBody>
      </p:sp>
      <p:sp>
        <p:nvSpPr>
          <p:cNvPr id="6" name="TextBox 5"/>
          <p:cNvSpPr txBox="1"/>
          <p:nvPr/>
        </p:nvSpPr>
        <p:spPr>
          <a:xfrm>
            <a:off x="457200" y="4663440"/>
            <a:ext cx="11247120" cy="1005840"/>
          </a:xfrm>
          <a:prstGeom prst="rect">
            <a:avLst/>
          </a:prstGeom>
          <a:noFill/>
        </p:spPr>
        <p:txBody>
          <a:bodyPr wrap="square">
            <a:spAutoFit/>
          </a:bodyPr>
          <a:lstStyle/>
          <a:p>
            <a:pPr algn="l"/>
            <a:r>
              <a:rPr sz="3800" b="1" i="0">
                <a:solidFill>
                  <a:srgbClr val="FFD600"/>
                </a:solidFill>
                <a:latin typeface="Helvetica Neue"/>
              </a:rPr>
              <a:t>Write config-as-code. Push once. Deploy everywhere.</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0404"/>
        </a:solidFill>
        <a:effectLst/>
      </p:bgPr>
    </p:bg>
    <p:spTree>
      <p:nvGrpSpPr>
        <p:cNvPr id="1" name=""/>
        <p:cNvGrpSpPr/>
        <p:nvPr/>
      </p:nvGrpSpPr>
      <p:grpSpPr/>
      <p:sp>
        <p:nvSpPr>
          <p:cNvPr id="2" name="TextBox 1"/>
          <p:cNvSpPr txBox="1"/>
          <p:nvPr/>
        </p:nvSpPr>
        <p:spPr>
          <a:xfrm>
            <a:off x="274320" y="182880"/>
            <a:ext cx="2743200" cy="2743200"/>
          </a:xfrm>
          <a:prstGeom prst="rect">
            <a:avLst/>
          </a:prstGeom>
          <a:noFill/>
        </p:spPr>
        <p:txBody>
          <a:bodyPr wrap="square">
            <a:spAutoFit/>
          </a:bodyPr>
          <a:lstStyle/>
          <a:p>
            <a:pPr algn="ctr"/>
            <a:r>
              <a:rPr sz="13000" b="0" i="0">
                <a:solidFill>
                  <a:srgbClr val="FFFFFF"/>
                </a:solidFill>
                <a:latin typeface="Helvetica Neue"/>
              </a:rPr>
              <a:t>😵</a:t>
            </a:r>
          </a:p>
        </p:txBody>
      </p:sp>
      <p:sp>
        <p:nvSpPr>
          <p:cNvPr id="3" name="TextBox 2"/>
          <p:cNvSpPr txBox="1"/>
          <p:nvPr/>
        </p:nvSpPr>
        <p:spPr>
          <a:xfrm>
            <a:off x="3017520" y="365760"/>
            <a:ext cx="5029200" cy="1645920"/>
          </a:xfrm>
          <a:prstGeom prst="rect">
            <a:avLst/>
          </a:prstGeom>
          <a:noFill/>
        </p:spPr>
        <p:txBody>
          <a:bodyPr wrap="square">
            <a:spAutoFit/>
          </a:bodyPr>
          <a:lstStyle/>
          <a:p>
            <a:pPr algn="l"/>
            <a:r>
              <a:rPr sz="4200" b="1" i="0">
                <a:solidFill>
                  <a:srgbClr val="FFFFFF"/>
                </a:solidFill>
                <a:latin typeface="Helvetica Neue"/>
              </a:rPr>
              <a:t>But then Alex
opens the repo...</a:t>
            </a:r>
          </a:p>
        </p:txBody>
      </p:sp>
      <p:sp>
        <p:nvSpPr>
          <p:cNvPr id="4" name="Rectangle 3"/>
          <p:cNvSpPr/>
          <p:nvPr/>
        </p:nvSpPr>
        <p:spPr>
          <a:xfrm>
            <a:off x="365760" y="2286000"/>
            <a:ext cx="8046720" cy="4114800"/>
          </a:xfrm>
          <a:prstGeom prst="rect">
            <a:avLst/>
          </a:prstGeom>
          <a:solidFill>
            <a:srgbClr val="16161A"/>
          </a:solidFill>
          <a:ln w="9525">
            <a:solidFill>
              <a:srgbClr val="6C6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0352" y="2395728"/>
            <a:ext cx="7717536" cy="3895344"/>
          </a:xfrm>
          <a:prstGeom prst="rect">
            <a:avLst/>
          </a:prstGeom>
          <a:noFill/>
        </p:spPr>
        <p:txBody>
          <a:bodyPr wrap="none">
            <a:spAutoFit/>
          </a:bodyPr>
          <a:lstStyle/>
          <a:p>
            <a:pPr algn="l"/>
            <a:r>
              <a:rPr sz="1400" b="0" i="0">
                <a:solidFill>
                  <a:srgbClr val="30D158"/>
                </a:solidFill>
                <a:latin typeface="Courier New"/>
              </a:rPr>
              <a:t>group_vars/
├── DC1_FABRIC/
│   └── fabric.yml            ← 847 lines
├── DC1_L3_LEAVES/
│   └── l3_leaves.yml         ← 312 lines
├── DC1_SPINES/
│   └── spines.yml            ← 98 lines
├── DC1_TENANTS_NETWORKS/
│   └── tenants.yml           ← 1,204 lines
├── DC1_SERVER_PORTS/
│   └── server_ports.yml      ← 556 lines
└── ... 8 more files</a:t>
            </a:r>
          </a:p>
        </p:txBody>
      </p:sp>
      <p:sp>
        <p:nvSpPr>
          <p:cNvPr id="6" name="TextBox 5"/>
          <p:cNvSpPr txBox="1"/>
          <p:nvPr/>
        </p:nvSpPr>
        <p:spPr>
          <a:xfrm>
            <a:off x="8686800" y="2560320"/>
            <a:ext cx="3291840" cy="2560320"/>
          </a:xfrm>
          <a:prstGeom prst="rect">
            <a:avLst/>
          </a:prstGeom>
          <a:noFill/>
        </p:spPr>
        <p:txBody>
          <a:bodyPr wrap="square">
            <a:spAutoFit/>
          </a:bodyPr>
          <a:lstStyle/>
          <a:p>
            <a:pPr algn="l"/>
            <a:r>
              <a:rPr sz="2800" b="1" i="0">
                <a:solidFill>
                  <a:srgbClr val="FF9F0A"/>
                </a:solidFill>
                <a:latin typeface="Helvetica Neue"/>
              </a:rPr>
              <a:t>Which file?
Which key?
Which format?</a:t>
            </a:r>
          </a:p>
        </p:txBody>
      </p:sp>
    </p:spTree>
  </p:cSld>
  <p:clrMapOvr>
    <a:masterClrMapping/>
  </p:clrMapOvr>
  <p:transition spd="med">
    <p:push dir="l"/>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0404"/>
        </a:solidFill>
        <a:effectLst/>
      </p:bgPr>
    </p:bg>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pPr algn="l"/>
            <a:r>
              <a:rPr sz="5200" b="1" i="0">
                <a:solidFill>
                  <a:srgbClr val="FFFFFF"/>
                </a:solidFill>
                <a:latin typeface="Helvetica Neue"/>
              </a:rPr>
              <a:t>Add a static route.</a:t>
            </a:r>
          </a:p>
        </p:txBody>
      </p:sp>
      <p:sp>
        <p:nvSpPr>
          <p:cNvPr id="3" name="TextBox 2"/>
          <p:cNvSpPr txBox="1"/>
          <p:nvPr/>
        </p:nvSpPr>
        <p:spPr>
          <a:xfrm>
            <a:off x="457200" y="1097280"/>
            <a:ext cx="11247120" cy="548640"/>
          </a:xfrm>
          <a:prstGeom prst="rect">
            <a:avLst/>
          </a:prstGeom>
          <a:noFill/>
        </p:spPr>
        <p:txBody>
          <a:bodyPr wrap="square">
            <a:spAutoFit/>
          </a:bodyPr>
          <a:lstStyle/>
          <a:p>
            <a:pPr algn="l"/>
            <a:r>
              <a:rPr sz="2600" b="0" i="1">
                <a:solidFill>
                  <a:srgbClr val="AEAEB2"/>
                </a:solidFill>
                <a:latin typeface="Helvetica Neue"/>
              </a:rPr>
              <a:t>How hard could it be? 🙃</a:t>
            </a:r>
          </a:p>
        </p:txBody>
      </p:sp>
      <p:sp>
        <p:nvSpPr>
          <p:cNvPr id="4" name="TextBox 3"/>
          <p:cNvSpPr txBox="1"/>
          <p:nvPr/>
        </p:nvSpPr>
        <p:spPr>
          <a:xfrm>
            <a:off x="365760" y="1828800"/>
            <a:ext cx="365760" cy="640080"/>
          </a:xfrm>
          <a:prstGeom prst="rect">
            <a:avLst/>
          </a:prstGeom>
          <a:noFill/>
        </p:spPr>
        <p:txBody>
          <a:bodyPr wrap="square">
            <a:spAutoFit/>
          </a:bodyPr>
          <a:lstStyle/>
          <a:p>
            <a:pPr algn="l"/>
            <a:r>
              <a:rPr sz="1400" b="1" i="0">
                <a:solidFill>
                  <a:srgbClr val="FF9F0A"/>
                </a:solidFill>
                <a:latin typeface="Helvetica Neue"/>
              </a:rPr>
              <a:t>◆</a:t>
            </a:r>
          </a:p>
        </p:txBody>
      </p:sp>
      <p:sp>
        <p:nvSpPr>
          <p:cNvPr id="5" name="TextBox 4"/>
          <p:cNvSpPr txBox="1"/>
          <p:nvPr/>
        </p:nvSpPr>
        <p:spPr>
          <a:xfrm>
            <a:off x="777240" y="1828800"/>
            <a:ext cx="2560320" cy="640080"/>
          </a:xfrm>
          <a:prstGeom prst="rect">
            <a:avLst/>
          </a:prstGeom>
          <a:noFill/>
        </p:spPr>
        <p:txBody>
          <a:bodyPr wrap="square">
            <a:spAutoFit/>
          </a:bodyPr>
          <a:lstStyle/>
          <a:p>
            <a:pPr algn="l"/>
            <a:r>
              <a:rPr sz="1700" b="1" i="0">
                <a:solidFill>
                  <a:srgbClr val="FF9F0A"/>
                </a:solidFill>
                <a:latin typeface="Helvetica Neue"/>
              </a:rPr>
              <a:t>l3_leaves.yml</a:t>
            </a:r>
          </a:p>
        </p:txBody>
      </p:sp>
      <p:sp>
        <p:nvSpPr>
          <p:cNvPr id="6" name="TextBox 5"/>
          <p:cNvSpPr txBox="1"/>
          <p:nvPr/>
        </p:nvSpPr>
        <p:spPr>
          <a:xfrm>
            <a:off x="3429000" y="1828800"/>
            <a:ext cx="8686800" cy="640080"/>
          </a:xfrm>
          <a:prstGeom prst="rect">
            <a:avLst/>
          </a:prstGeom>
          <a:noFill/>
        </p:spPr>
        <p:txBody>
          <a:bodyPr wrap="square">
            <a:spAutoFit/>
          </a:bodyPr>
          <a:lstStyle/>
          <a:p>
            <a:pPr algn="l"/>
            <a:r>
              <a:rPr sz="1500" b="0" i="0">
                <a:solidFill>
                  <a:srgbClr val="D1D1D6"/>
                </a:solidFill>
                <a:latin typeface="Helvetica Neue"/>
              </a:rPr>
              <a:t>Find structured_config.static_routes (NOT defaults.static_routes — that key doesn't exist)</a:t>
            </a:r>
          </a:p>
        </p:txBody>
      </p:sp>
      <p:sp>
        <p:nvSpPr>
          <p:cNvPr id="7" name="TextBox 6"/>
          <p:cNvSpPr txBox="1"/>
          <p:nvPr/>
        </p:nvSpPr>
        <p:spPr>
          <a:xfrm>
            <a:off x="365760" y="2578608"/>
            <a:ext cx="365760" cy="640080"/>
          </a:xfrm>
          <a:prstGeom prst="rect">
            <a:avLst/>
          </a:prstGeom>
          <a:noFill/>
        </p:spPr>
        <p:txBody>
          <a:bodyPr wrap="square">
            <a:spAutoFit/>
          </a:bodyPr>
          <a:lstStyle/>
          <a:p>
            <a:pPr algn="l"/>
            <a:r>
              <a:rPr sz="1400" b="1" i="0">
                <a:solidFill>
                  <a:srgbClr val="FF9F0A"/>
                </a:solidFill>
                <a:latin typeface="Helvetica Neue"/>
              </a:rPr>
              <a:t>◆</a:t>
            </a:r>
          </a:p>
        </p:txBody>
      </p:sp>
      <p:sp>
        <p:nvSpPr>
          <p:cNvPr id="8" name="TextBox 7"/>
          <p:cNvSpPr txBox="1"/>
          <p:nvPr/>
        </p:nvSpPr>
        <p:spPr>
          <a:xfrm>
            <a:off x="777240" y="2578608"/>
            <a:ext cx="2560320" cy="640080"/>
          </a:xfrm>
          <a:prstGeom prst="rect">
            <a:avLst/>
          </a:prstGeom>
          <a:noFill/>
        </p:spPr>
        <p:txBody>
          <a:bodyPr wrap="square">
            <a:spAutoFit/>
          </a:bodyPr>
          <a:lstStyle/>
          <a:p>
            <a:pPr algn="l"/>
            <a:r>
              <a:rPr sz="1700" b="1" i="0">
                <a:solidFill>
                  <a:srgbClr val="FF9F0A"/>
                </a:solidFill>
                <a:latin typeface="Helvetica Neue"/>
              </a:rPr>
              <a:t>intended/</a:t>
            </a:r>
          </a:p>
        </p:txBody>
      </p:sp>
      <p:sp>
        <p:nvSpPr>
          <p:cNvPr id="9" name="TextBox 8"/>
          <p:cNvSpPr txBox="1"/>
          <p:nvPr/>
        </p:nvSpPr>
        <p:spPr>
          <a:xfrm>
            <a:off x="3429000" y="2578608"/>
            <a:ext cx="8686800" cy="640080"/>
          </a:xfrm>
          <a:prstGeom prst="rect">
            <a:avLst/>
          </a:prstGeom>
          <a:noFill/>
        </p:spPr>
        <p:txBody>
          <a:bodyPr wrap="square">
            <a:spAutoFit/>
          </a:bodyPr>
          <a:lstStyle/>
          <a:p>
            <a:pPr algn="l"/>
            <a:r>
              <a:rPr sz="1500" b="0" i="0">
                <a:solidFill>
                  <a:srgbClr val="D1D1D6"/>
                </a:solidFill>
                <a:latin typeface="Helvetica Neue"/>
              </a:rPr>
              <a:t>Regenerate all device configs with ansible-playbook build.yml</a:t>
            </a:r>
          </a:p>
        </p:txBody>
      </p:sp>
      <p:sp>
        <p:nvSpPr>
          <p:cNvPr id="10" name="TextBox 9"/>
          <p:cNvSpPr txBox="1"/>
          <p:nvPr/>
        </p:nvSpPr>
        <p:spPr>
          <a:xfrm>
            <a:off x="365760" y="3328415"/>
            <a:ext cx="365760" cy="640080"/>
          </a:xfrm>
          <a:prstGeom prst="rect">
            <a:avLst/>
          </a:prstGeom>
          <a:noFill/>
        </p:spPr>
        <p:txBody>
          <a:bodyPr wrap="square">
            <a:spAutoFit/>
          </a:bodyPr>
          <a:lstStyle/>
          <a:p>
            <a:pPr algn="l"/>
            <a:r>
              <a:rPr sz="1400" b="1" i="0">
                <a:solidFill>
                  <a:srgbClr val="FF9F0A"/>
                </a:solidFill>
                <a:latin typeface="Helvetica Neue"/>
              </a:rPr>
              <a:t>◆</a:t>
            </a:r>
          </a:p>
        </p:txBody>
      </p:sp>
      <p:sp>
        <p:nvSpPr>
          <p:cNvPr id="11" name="TextBox 10"/>
          <p:cNvSpPr txBox="1"/>
          <p:nvPr/>
        </p:nvSpPr>
        <p:spPr>
          <a:xfrm>
            <a:off x="777240" y="3328415"/>
            <a:ext cx="2560320" cy="640080"/>
          </a:xfrm>
          <a:prstGeom prst="rect">
            <a:avLst/>
          </a:prstGeom>
          <a:noFill/>
        </p:spPr>
        <p:txBody>
          <a:bodyPr wrap="square">
            <a:spAutoFit/>
          </a:bodyPr>
          <a:lstStyle/>
          <a:p>
            <a:pPr algn="l"/>
            <a:r>
              <a:rPr sz="1700" b="1" i="0">
                <a:solidFill>
                  <a:srgbClr val="FF9F0A"/>
                </a:solidFill>
                <a:latin typeface="Helvetica Neue"/>
              </a:rPr>
              <a:t>documentation/</a:t>
            </a:r>
          </a:p>
        </p:txBody>
      </p:sp>
      <p:sp>
        <p:nvSpPr>
          <p:cNvPr id="12" name="TextBox 11"/>
          <p:cNvSpPr txBox="1"/>
          <p:nvPr/>
        </p:nvSpPr>
        <p:spPr>
          <a:xfrm>
            <a:off x="3429000" y="3328415"/>
            <a:ext cx="8686800" cy="640080"/>
          </a:xfrm>
          <a:prstGeom prst="rect">
            <a:avLst/>
          </a:prstGeom>
          <a:noFill/>
        </p:spPr>
        <p:txBody>
          <a:bodyPr wrap="square">
            <a:spAutoFit/>
          </a:bodyPr>
          <a:lstStyle/>
          <a:p>
            <a:pPr algn="l"/>
            <a:r>
              <a:rPr sz="1500" b="0" i="0">
                <a:solidFill>
                  <a:srgbClr val="D1D1D6"/>
                </a:solidFill>
                <a:latin typeface="Helvetica Neue"/>
              </a:rPr>
              <a:t>Rebuild markdown docs for 4 switches</a:t>
            </a:r>
          </a:p>
        </p:txBody>
      </p:sp>
      <p:sp>
        <p:nvSpPr>
          <p:cNvPr id="13" name="TextBox 12"/>
          <p:cNvSpPr txBox="1"/>
          <p:nvPr/>
        </p:nvSpPr>
        <p:spPr>
          <a:xfrm>
            <a:off x="365760" y="4078224"/>
            <a:ext cx="365760" cy="640080"/>
          </a:xfrm>
          <a:prstGeom prst="rect">
            <a:avLst/>
          </a:prstGeom>
          <a:noFill/>
        </p:spPr>
        <p:txBody>
          <a:bodyPr wrap="square">
            <a:spAutoFit/>
          </a:bodyPr>
          <a:lstStyle/>
          <a:p>
            <a:pPr algn="l"/>
            <a:r>
              <a:rPr sz="1400" b="1" i="0">
                <a:solidFill>
                  <a:srgbClr val="AEAEB2"/>
                </a:solidFill>
                <a:latin typeface="Helvetica Neue"/>
              </a:rPr>
              <a:t>◆</a:t>
            </a:r>
          </a:p>
        </p:txBody>
      </p:sp>
      <p:sp>
        <p:nvSpPr>
          <p:cNvPr id="14" name="TextBox 13"/>
          <p:cNvSpPr txBox="1"/>
          <p:nvPr/>
        </p:nvSpPr>
        <p:spPr>
          <a:xfrm>
            <a:off x="777240" y="4078224"/>
            <a:ext cx="2560320" cy="640080"/>
          </a:xfrm>
          <a:prstGeom prst="rect">
            <a:avLst/>
          </a:prstGeom>
          <a:noFill/>
        </p:spPr>
        <p:txBody>
          <a:bodyPr wrap="square">
            <a:spAutoFit/>
          </a:bodyPr>
          <a:lstStyle/>
          <a:p>
            <a:pPr algn="l"/>
            <a:r>
              <a:rPr sz="1700" b="1" i="0">
                <a:solidFill>
                  <a:srgbClr val="AEAEB2"/>
                </a:solidFill>
                <a:latin typeface="Helvetica Neue"/>
              </a:rPr>
              <a:t>validation</a:t>
            </a:r>
          </a:p>
        </p:txBody>
      </p:sp>
      <p:sp>
        <p:nvSpPr>
          <p:cNvPr id="15" name="TextBox 14"/>
          <p:cNvSpPr txBox="1"/>
          <p:nvPr/>
        </p:nvSpPr>
        <p:spPr>
          <a:xfrm>
            <a:off x="3429000" y="4078224"/>
            <a:ext cx="8686800" cy="640080"/>
          </a:xfrm>
          <a:prstGeom prst="rect">
            <a:avLst/>
          </a:prstGeom>
          <a:noFill/>
        </p:spPr>
        <p:txBody>
          <a:bodyPr wrap="square">
            <a:spAutoFit/>
          </a:bodyPr>
          <a:lstStyle/>
          <a:p>
            <a:pPr algn="l"/>
            <a:r>
              <a:rPr sz="1500" b="0" i="0">
                <a:solidFill>
                  <a:srgbClr val="D1D1D6"/>
                </a:solidFill>
                <a:latin typeface="Helvetica Neue"/>
              </a:rPr>
              <a:t>Manually check: does BGP still converge? Any routing loops?</a:t>
            </a:r>
          </a:p>
        </p:txBody>
      </p:sp>
      <p:sp>
        <p:nvSpPr>
          <p:cNvPr id="16" name="TextBox 15"/>
          <p:cNvSpPr txBox="1"/>
          <p:nvPr/>
        </p:nvSpPr>
        <p:spPr>
          <a:xfrm>
            <a:off x="365760" y="4828031"/>
            <a:ext cx="365760" cy="640080"/>
          </a:xfrm>
          <a:prstGeom prst="rect">
            <a:avLst/>
          </a:prstGeom>
          <a:noFill/>
        </p:spPr>
        <p:txBody>
          <a:bodyPr wrap="square">
            <a:spAutoFit/>
          </a:bodyPr>
          <a:lstStyle/>
          <a:p>
            <a:pPr algn="l"/>
            <a:r>
              <a:rPr sz="1400" b="1" i="0">
                <a:solidFill>
                  <a:srgbClr val="AEAEB2"/>
                </a:solidFill>
                <a:latin typeface="Helvetica Neue"/>
              </a:rPr>
              <a:t>◆</a:t>
            </a:r>
          </a:p>
        </p:txBody>
      </p:sp>
      <p:sp>
        <p:nvSpPr>
          <p:cNvPr id="17" name="TextBox 16"/>
          <p:cNvSpPr txBox="1"/>
          <p:nvPr/>
        </p:nvSpPr>
        <p:spPr>
          <a:xfrm>
            <a:off x="777240" y="4828031"/>
            <a:ext cx="2560320" cy="640080"/>
          </a:xfrm>
          <a:prstGeom prst="rect">
            <a:avLst/>
          </a:prstGeom>
          <a:noFill/>
        </p:spPr>
        <p:txBody>
          <a:bodyPr wrap="square">
            <a:spAutoFit/>
          </a:bodyPr>
          <a:lstStyle/>
          <a:p>
            <a:pPr algn="l"/>
            <a:r>
              <a:rPr sz="1700" b="1" i="0">
                <a:solidFill>
                  <a:srgbClr val="AEAEB2"/>
                </a:solidFill>
                <a:latin typeface="Helvetica Neue"/>
              </a:rPr>
              <a:t>peer review</a:t>
            </a:r>
          </a:p>
        </p:txBody>
      </p:sp>
      <p:sp>
        <p:nvSpPr>
          <p:cNvPr id="18" name="TextBox 17"/>
          <p:cNvSpPr txBox="1"/>
          <p:nvPr/>
        </p:nvSpPr>
        <p:spPr>
          <a:xfrm>
            <a:off x="3429000" y="4828031"/>
            <a:ext cx="8686800" cy="640080"/>
          </a:xfrm>
          <a:prstGeom prst="rect">
            <a:avLst/>
          </a:prstGeom>
          <a:noFill/>
        </p:spPr>
        <p:txBody>
          <a:bodyPr wrap="square">
            <a:spAutoFit/>
          </a:bodyPr>
          <a:lstStyle/>
          <a:p>
            <a:pPr algn="l"/>
            <a:r>
              <a:rPr sz="1500" b="0" i="0">
                <a:solidFill>
                  <a:srgbClr val="D1D1D6"/>
                </a:solidFill>
                <a:latin typeface="Helvetica Neue"/>
              </a:rPr>
              <a:t>Get another engineer to verify your YAML is correct</a:t>
            </a:r>
          </a:p>
        </p:txBody>
      </p:sp>
      <p:sp>
        <p:nvSpPr>
          <p:cNvPr id="19" name="TextBox 18"/>
          <p:cNvSpPr txBox="1"/>
          <p:nvPr/>
        </p:nvSpPr>
        <p:spPr>
          <a:xfrm>
            <a:off x="365760" y="5577840"/>
            <a:ext cx="365760" cy="640080"/>
          </a:xfrm>
          <a:prstGeom prst="rect">
            <a:avLst/>
          </a:prstGeom>
          <a:noFill/>
        </p:spPr>
        <p:txBody>
          <a:bodyPr wrap="square">
            <a:spAutoFit/>
          </a:bodyPr>
          <a:lstStyle/>
          <a:p>
            <a:pPr algn="l"/>
            <a:r>
              <a:rPr sz="1400" b="1" i="0">
                <a:solidFill>
                  <a:srgbClr val="6C6C70"/>
                </a:solidFill>
                <a:latin typeface="Helvetica Neue"/>
              </a:rPr>
              <a:t>◆</a:t>
            </a:r>
          </a:p>
        </p:txBody>
      </p:sp>
      <p:sp>
        <p:nvSpPr>
          <p:cNvPr id="20" name="TextBox 19"/>
          <p:cNvSpPr txBox="1"/>
          <p:nvPr/>
        </p:nvSpPr>
        <p:spPr>
          <a:xfrm>
            <a:off x="777240" y="5577840"/>
            <a:ext cx="2560320" cy="640080"/>
          </a:xfrm>
          <a:prstGeom prst="rect">
            <a:avLst/>
          </a:prstGeom>
          <a:noFill/>
        </p:spPr>
        <p:txBody>
          <a:bodyPr wrap="square">
            <a:spAutoFit/>
          </a:bodyPr>
          <a:lstStyle/>
          <a:p>
            <a:pPr algn="l"/>
            <a:r>
              <a:rPr sz="1700" b="1" i="0">
                <a:solidFill>
                  <a:srgbClr val="6C6C70"/>
                </a:solidFill>
                <a:latin typeface="Helvetica Neue"/>
              </a:rPr>
              <a:t>deploy</a:t>
            </a:r>
          </a:p>
        </p:txBody>
      </p:sp>
      <p:sp>
        <p:nvSpPr>
          <p:cNvPr id="21" name="TextBox 20"/>
          <p:cNvSpPr txBox="1"/>
          <p:nvPr/>
        </p:nvSpPr>
        <p:spPr>
          <a:xfrm>
            <a:off x="3429000" y="5577840"/>
            <a:ext cx="8686800" cy="640080"/>
          </a:xfrm>
          <a:prstGeom prst="rect">
            <a:avLst/>
          </a:prstGeom>
          <a:noFill/>
        </p:spPr>
        <p:txBody>
          <a:bodyPr wrap="square">
            <a:spAutoFit/>
          </a:bodyPr>
          <a:lstStyle/>
          <a:p>
            <a:pPr algn="l"/>
            <a:r>
              <a:rPr sz="1500" b="0" i="0">
                <a:solidFill>
                  <a:srgbClr val="D1D1D6"/>
                </a:solidFill>
                <a:latin typeface="Helvetica Neue"/>
              </a:rPr>
              <a:t>Run ansible-playbook deploy.yml and watch for errors</a:t>
            </a:r>
          </a:p>
        </p:txBody>
      </p:sp>
      <p:sp>
        <p:nvSpPr>
          <p:cNvPr id="22" name="TextBox 21"/>
          <p:cNvSpPr txBox="1"/>
          <p:nvPr/>
        </p:nvSpPr>
        <p:spPr>
          <a:xfrm>
            <a:off x="457200" y="6400800"/>
            <a:ext cx="11247120" cy="411480"/>
          </a:xfrm>
          <a:prstGeom prst="rect">
            <a:avLst/>
          </a:prstGeom>
          <a:noFill/>
        </p:spPr>
        <p:txBody>
          <a:bodyPr wrap="square">
            <a:spAutoFit/>
          </a:bodyPr>
          <a:lstStyle/>
          <a:p>
            <a:pPr algn="ctr"/>
            <a:r>
              <a:rPr sz="2000" b="1" i="0">
                <a:solidFill>
                  <a:srgbClr val="FF3B30"/>
                </a:solidFill>
                <a:latin typeface="Helvetica Neue"/>
              </a:rPr>
              <a:t>45–90 minutes. For adding one route.</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0404"/>
        </a:solidFill>
        <a:effectLst/>
      </p:bgPr>
    </p:bg>
    <p:spTree>
      <p:nvGrpSpPr>
        <p:cNvPr id="1" name=""/>
        <p:cNvGrpSpPr/>
        <p:nvPr/>
      </p:nvGrpSpPr>
      <p:grpSpPr/>
      <p:sp>
        <p:nvSpPr>
          <p:cNvPr id="2" name="TextBox 1"/>
          <p:cNvSpPr txBox="1"/>
          <p:nvPr/>
        </p:nvSpPr>
        <p:spPr>
          <a:xfrm>
            <a:off x="274320" y="182880"/>
            <a:ext cx="4114800" cy="3474720"/>
          </a:xfrm>
          <a:prstGeom prst="rect">
            <a:avLst/>
          </a:prstGeom>
          <a:noFill/>
        </p:spPr>
        <p:txBody>
          <a:bodyPr wrap="square">
            <a:spAutoFit/>
          </a:bodyPr>
          <a:lstStyle/>
          <a:p>
            <a:pPr algn="ctr"/>
            <a:r>
              <a:rPr sz="16000" b="0" i="0">
                <a:solidFill>
                  <a:srgbClr val="FFFFFF"/>
                </a:solidFill>
                <a:latin typeface="Helvetica Neue"/>
              </a:rPr>
              <a:t>💥</a:t>
            </a:r>
          </a:p>
        </p:txBody>
      </p:sp>
      <p:sp>
        <p:nvSpPr>
          <p:cNvPr id="3" name="TextBox 2"/>
          <p:cNvSpPr txBox="1"/>
          <p:nvPr/>
        </p:nvSpPr>
        <p:spPr>
          <a:xfrm>
            <a:off x="4572000" y="548640"/>
            <a:ext cx="7315200" cy="914400"/>
          </a:xfrm>
          <a:prstGeom prst="rect">
            <a:avLst/>
          </a:prstGeom>
          <a:noFill/>
        </p:spPr>
        <p:txBody>
          <a:bodyPr wrap="square">
            <a:spAutoFit/>
          </a:bodyPr>
          <a:lstStyle/>
          <a:p>
            <a:pPr algn="l"/>
            <a:r>
              <a:rPr sz="6200" b="1" i="0">
                <a:solidFill>
                  <a:srgbClr val="FFFFFF"/>
                </a:solidFill>
                <a:latin typeface="Helvetica Neue"/>
              </a:rPr>
              <a:t>One typo.</a:t>
            </a:r>
          </a:p>
        </p:txBody>
      </p:sp>
      <p:sp>
        <p:nvSpPr>
          <p:cNvPr id="4" name="TextBox 3"/>
          <p:cNvSpPr txBox="1"/>
          <p:nvPr/>
        </p:nvSpPr>
        <p:spPr>
          <a:xfrm>
            <a:off x="4572000" y="1554480"/>
            <a:ext cx="7315200" cy="822960"/>
          </a:xfrm>
          <a:prstGeom prst="rect">
            <a:avLst/>
          </a:prstGeom>
          <a:noFill/>
        </p:spPr>
        <p:txBody>
          <a:bodyPr wrap="square">
            <a:spAutoFit/>
          </a:bodyPr>
          <a:lstStyle/>
          <a:p>
            <a:pPr algn="l"/>
            <a:r>
              <a:rPr sz="5200" b="1" i="0">
                <a:solidFill>
                  <a:srgbClr val="FF3B30"/>
                </a:solidFill>
                <a:latin typeface="Helvetica Neue"/>
              </a:rPr>
              <a:t>Wrong VLAN ID.</a:t>
            </a:r>
          </a:p>
        </p:txBody>
      </p:sp>
      <p:sp>
        <p:nvSpPr>
          <p:cNvPr id="5" name="TextBox 4"/>
          <p:cNvSpPr txBox="1"/>
          <p:nvPr/>
        </p:nvSpPr>
        <p:spPr>
          <a:xfrm>
            <a:off x="4572000" y="2560320"/>
            <a:ext cx="7315200" cy="1371600"/>
          </a:xfrm>
          <a:prstGeom prst="rect">
            <a:avLst/>
          </a:prstGeom>
          <a:noFill/>
        </p:spPr>
        <p:txBody>
          <a:bodyPr wrap="square">
            <a:spAutoFit/>
          </a:bodyPr>
          <a:lstStyle/>
          <a:p>
            <a:pPr algn="l"/>
            <a:r>
              <a:rPr sz="3600" b="1" i="0">
                <a:solidFill>
                  <a:srgbClr val="FF9F0A"/>
                </a:solidFill>
                <a:latin typeface="Helvetica Neue"/>
              </a:rPr>
              <a:t>Dev server on patient
data network.</a:t>
            </a:r>
          </a:p>
        </p:txBody>
      </p:sp>
      <p:sp>
        <p:nvSpPr>
          <p:cNvPr id="6" name="TextBox 5"/>
          <p:cNvSpPr txBox="1"/>
          <p:nvPr/>
        </p:nvSpPr>
        <p:spPr>
          <a:xfrm>
            <a:off x="4572000" y="4114800"/>
            <a:ext cx="7315200" cy="731520"/>
          </a:xfrm>
          <a:prstGeom prst="rect">
            <a:avLst/>
          </a:prstGeom>
          <a:noFill/>
        </p:spPr>
        <p:txBody>
          <a:bodyPr wrap="square">
            <a:spAutoFit/>
          </a:bodyPr>
          <a:lstStyle/>
          <a:p>
            <a:pPr algn="l"/>
            <a:r>
              <a:rPr sz="2400" b="0" i="1">
                <a:solidFill>
                  <a:srgbClr val="AEAEB2"/>
                </a:solidFill>
                <a:latin typeface="Helvetica Neue"/>
              </a:rPr>
              <a:t>6 months before anyone noticed.</a:t>
            </a:r>
          </a:p>
        </p:txBody>
      </p:sp>
    </p:spTree>
  </p:cSld>
  <p:clrMapOvr>
    <a:masterClrMapping/>
  </p:clrMapOvr>
  <p:transition spd="med">
    <p:cover dir="l"/>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457200" y="457200"/>
            <a:ext cx="11247120" cy="1097280"/>
          </a:xfrm>
          <a:prstGeom prst="rect">
            <a:avLst/>
          </a:prstGeom>
          <a:noFill/>
        </p:spPr>
        <p:txBody>
          <a:bodyPr wrap="square">
            <a:spAutoFit/>
          </a:bodyPr>
          <a:lstStyle/>
          <a:p>
            <a:pPr algn="ctr"/>
            <a:r>
              <a:rPr sz="5600" b="1" i="0">
                <a:solidFill>
                  <a:srgbClr val="FFFFFF"/>
                </a:solidFill>
                <a:latin typeface="Helvetica Neue"/>
              </a:rPr>
              <a:t>IaC is powerful.</a:t>
            </a:r>
          </a:p>
        </p:txBody>
      </p:sp>
      <p:sp>
        <p:nvSpPr>
          <p:cNvPr id="3" name="TextBox 2"/>
          <p:cNvSpPr txBox="1"/>
          <p:nvPr/>
        </p:nvSpPr>
        <p:spPr>
          <a:xfrm>
            <a:off x="457200" y="1645920"/>
            <a:ext cx="11247120" cy="822960"/>
          </a:xfrm>
          <a:prstGeom prst="rect">
            <a:avLst/>
          </a:prstGeom>
          <a:noFill/>
        </p:spPr>
        <p:txBody>
          <a:bodyPr wrap="square">
            <a:spAutoFit/>
          </a:bodyPr>
          <a:lstStyle/>
          <a:p>
            <a:pPr algn="ctr"/>
            <a:r>
              <a:rPr sz="4000" b="0" i="0">
                <a:solidFill>
                  <a:srgbClr val="AEAEB2"/>
                </a:solidFill>
                <a:latin typeface="Helvetica Neue"/>
              </a:rPr>
              <a:t>But it's not intelligent. And it's not safe.</a:t>
            </a:r>
          </a:p>
        </p:txBody>
      </p:sp>
      <p:sp>
        <p:nvSpPr>
          <p:cNvPr id="4" name="Rectangle 3"/>
          <p:cNvSpPr/>
          <p:nvPr/>
        </p:nvSpPr>
        <p:spPr>
          <a:xfrm>
            <a:off x="640080" y="2743200"/>
            <a:ext cx="3474720" cy="3474720"/>
          </a:xfrm>
          <a:prstGeom prst="rect">
            <a:avLst/>
          </a:prstGeom>
          <a:solidFill>
            <a:srgbClr val="18181C"/>
          </a:solidFill>
          <a:ln w="254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19" y="2834640"/>
            <a:ext cx="3291840" cy="822960"/>
          </a:xfrm>
          <a:prstGeom prst="rect">
            <a:avLst/>
          </a:prstGeom>
          <a:noFill/>
        </p:spPr>
        <p:txBody>
          <a:bodyPr wrap="square">
            <a:spAutoFit/>
          </a:bodyPr>
          <a:lstStyle/>
          <a:p>
            <a:pPr algn="ctr"/>
            <a:r>
              <a:rPr sz="3000" b="1" i="0">
                <a:solidFill>
                  <a:srgbClr val="FF3B30"/>
                </a:solidFill>
                <a:latin typeface="Helvetica Neue"/>
              </a:rPr>
              <a:t>MANUAL</a:t>
            </a:r>
          </a:p>
        </p:txBody>
      </p:sp>
      <p:sp>
        <p:nvSpPr>
          <p:cNvPr id="6" name="TextBox 5"/>
          <p:cNvSpPr txBox="1"/>
          <p:nvPr/>
        </p:nvSpPr>
        <p:spPr>
          <a:xfrm>
            <a:off x="731519" y="3749039"/>
            <a:ext cx="3291840" cy="1371600"/>
          </a:xfrm>
          <a:prstGeom prst="rect">
            <a:avLst/>
          </a:prstGeom>
          <a:noFill/>
        </p:spPr>
        <p:txBody>
          <a:bodyPr wrap="square">
            <a:spAutoFit/>
          </a:bodyPr>
          <a:lstStyle/>
          <a:p>
            <a:pPr algn="ctr"/>
            <a:r>
              <a:rPr sz="1800" b="0" i="0">
                <a:solidFill>
                  <a:srgbClr val="AEAEB2"/>
                </a:solidFill>
                <a:latin typeface="Helvetica Neue"/>
              </a:rPr>
              <a:t>Deep schema expertise
required for every change</a:t>
            </a:r>
          </a:p>
        </p:txBody>
      </p:sp>
      <p:sp>
        <p:nvSpPr>
          <p:cNvPr id="7" name="Rectangle 6"/>
          <p:cNvSpPr/>
          <p:nvPr/>
        </p:nvSpPr>
        <p:spPr>
          <a:xfrm>
            <a:off x="4480560" y="2743200"/>
            <a:ext cx="3474720" cy="3474720"/>
          </a:xfrm>
          <a:prstGeom prst="rect">
            <a:avLst/>
          </a:prstGeom>
          <a:solidFill>
            <a:srgbClr val="18181C"/>
          </a:solidFill>
          <a:ln w="25400">
            <a:solidFill>
              <a:srgbClr val="FF9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2834640"/>
            <a:ext cx="3291840" cy="822960"/>
          </a:xfrm>
          <a:prstGeom prst="rect">
            <a:avLst/>
          </a:prstGeom>
          <a:noFill/>
        </p:spPr>
        <p:txBody>
          <a:bodyPr wrap="square">
            <a:spAutoFit/>
          </a:bodyPr>
          <a:lstStyle/>
          <a:p>
            <a:pPr algn="ctr"/>
            <a:r>
              <a:rPr sz="3000" b="1" i="0">
                <a:solidFill>
                  <a:srgbClr val="FF9F0A"/>
                </a:solidFill>
                <a:latin typeface="Helvetica Neue"/>
              </a:rPr>
              <a:t>COMPLEX</a:t>
            </a:r>
          </a:p>
        </p:txBody>
      </p:sp>
      <p:sp>
        <p:nvSpPr>
          <p:cNvPr id="9" name="TextBox 8"/>
          <p:cNvSpPr txBox="1"/>
          <p:nvPr/>
        </p:nvSpPr>
        <p:spPr>
          <a:xfrm>
            <a:off x="4572000" y="3749039"/>
            <a:ext cx="3291840" cy="1371600"/>
          </a:xfrm>
          <a:prstGeom prst="rect">
            <a:avLst/>
          </a:prstGeom>
          <a:noFill/>
        </p:spPr>
        <p:txBody>
          <a:bodyPr wrap="square">
            <a:spAutoFit/>
          </a:bodyPr>
          <a:lstStyle/>
          <a:p>
            <a:pPr algn="ctr"/>
            <a:r>
              <a:rPr sz="1800" b="0" i="0">
                <a:solidFill>
                  <a:srgbClr val="AEAEB2"/>
                </a:solidFill>
                <a:latin typeface="Helvetica Neue"/>
              </a:rPr>
              <a:t>13 files, 3,000+ lines,
hundreds of schema rules</a:t>
            </a:r>
          </a:p>
        </p:txBody>
      </p:sp>
      <p:sp>
        <p:nvSpPr>
          <p:cNvPr id="10" name="Rectangle 9"/>
          <p:cNvSpPr/>
          <p:nvPr/>
        </p:nvSpPr>
        <p:spPr>
          <a:xfrm>
            <a:off x="8321040" y="2743200"/>
            <a:ext cx="3474720" cy="3474720"/>
          </a:xfrm>
          <a:prstGeom prst="rect">
            <a:avLst/>
          </a:prstGeom>
          <a:solidFill>
            <a:srgbClr val="18181C"/>
          </a:solidFill>
          <a:ln w="25400">
            <a:solidFill>
              <a:srgbClr val="FFD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0" y="2834640"/>
            <a:ext cx="3291840" cy="822960"/>
          </a:xfrm>
          <a:prstGeom prst="rect">
            <a:avLst/>
          </a:prstGeom>
          <a:noFill/>
        </p:spPr>
        <p:txBody>
          <a:bodyPr wrap="square">
            <a:spAutoFit/>
          </a:bodyPr>
          <a:lstStyle/>
          <a:p>
            <a:pPr algn="ctr"/>
            <a:r>
              <a:rPr sz="3000" b="1" i="0">
                <a:solidFill>
                  <a:srgbClr val="FFD600"/>
                </a:solidFill>
                <a:latin typeface="Helvetica Neue"/>
              </a:rPr>
              <a:t>UNVALIDATED</a:t>
            </a:r>
          </a:p>
        </p:txBody>
      </p:sp>
      <p:sp>
        <p:nvSpPr>
          <p:cNvPr id="12" name="TextBox 11"/>
          <p:cNvSpPr txBox="1"/>
          <p:nvPr/>
        </p:nvSpPr>
        <p:spPr>
          <a:xfrm>
            <a:off x="8412480" y="3749039"/>
            <a:ext cx="3291840" cy="1371600"/>
          </a:xfrm>
          <a:prstGeom prst="rect">
            <a:avLst/>
          </a:prstGeom>
          <a:noFill/>
        </p:spPr>
        <p:txBody>
          <a:bodyPr wrap="square">
            <a:spAutoFit/>
          </a:bodyPr>
          <a:lstStyle/>
          <a:p>
            <a:pPr algn="ctr"/>
            <a:r>
              <a:rPr sz="1800" b="0" i="0">
                <a:solidFill>
                  <a:srgbClr val="AEAEB2"/>
                </a:solidFill>
                <a:latin typeface="Helvetica Neue"/>
              </a:rPr>
              <a:t>No security check before
config reaches devices</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60E27"/>
        </a:solidFill>
        <a:effectLst/>
      </p:bgPr>
    </p:bg>
    <p:spTree>
      <p:nvGrpSpPr>
        <p:cNvPr id="1" name=""/>
        <p:cNvGrpSpPr/>
        <p:nvPr/>
      </p:nvGrpSpPr>
      <p:grpSpPr/>
      <p:sp>
        <p:nvSpPr>
          <p:cNvPr id="2" name="TextBox 1"/>
          <p:cNvSpPr txBox="1"/>
          <p:nvPr/>
        </p:nvSpPr>
        <p:spPr>
          <a:xfrm>
            <a:off x="548640" y="731520"/>
            <a:ext cx="11064240" cy="1280160"/>
          </a:xfrm>
          <a:prstGeom prst="rect">
            <a:avLst/>
          </a:prstGeom>
          <a:noFill/>
        </p:spPr>
        <p:txBody>
          <a:bodyPr wrap="square">
            <a:spAutoFit/>
          </a:bodyPr>
          <a:lstStyle/>
          <a:p>
            <a:pPr algn="ctr"/>
            <a:r>
              <a:rPr sz="6200" b="1" i="0">
                <a:solidFill>
                  <a:srgbClr val="FFFFFF"/>
                </a:solidFill>
                <a:latin typeface="Helvetica Neue"/>
              </a:rPr>
              <a:t>What if you could</a:t>
            </a:r>
          </a:p>
        </p:txBody>
      </p:sp>
      <p:sp>
        <p:nvSpPr>
          <p:cNvPr id="3" name="TextBox 2"/>
          <p:cNvSpPr txBox="1"/>
          <p:nvPr/>
        </p:nvSpPr>
        <p:spPr>
          <a:xfrm>
            <a:off x="548640" y="1920240"/>
            <a:ext cx="11064240" cy="1371600"/>
          </a:xfrm>
          <a:prstGeom prst="rect">
            <a:avLst/>
          </a:prstGeom>
          <a:noFill/>
        </p:spPr>
        <p:txBody>
          <a:bodyPr wrap="square">
            <a:spAutoFit/>
          </a:bodyPr>
          <a:lstStyle/>
          <a:p>
            <a:pPr algn="ctr"/>
            <a:r>
              <a:rPr sz="7800" b="1" i="0">
                <a:solidFill>
                  <a:srgbClr val="40A5FF"/>
                </a:solidFill>
                <a:latin typeface="Helvetica Neue"/>
              </a:rPr>
              <a:t>just... ask?</a:t>
            </a:r>
          </a:p>
        </p:txBody>
      </p:sp>
      <p:sp>
        <p:nvSpPr>
          <p:cNvPr id="4" name="Rectangle 3"/>
          <p:cNvSpPr/>
          <p:nvPr/>
        </p:nvSpPr>
        <p:spPr>
          <a:xfrm>
            <a:off x="1097280" y="3566160"/>
            <a:ext cx="9966960" cy="1097280"/>
          </a:xfrm>
          <a:prstGeom prst="rect">
            <a:avLst/>
          </a:prstGeom>
          <a:solidFill>
            <a:srgbClr val="101E45"/>
          </a:solidFill>
          <a:ln w="25400">
            <a:solidFill>
              <a:srgbClr val="40A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3703320"/>
            <a:ext cx="9601200" cy="822960"/>
          </a:xfrm>
          <a:prstGeom prst="rect">
            <a:avLst/>
          </a:prstGeom>
          <a:noFill/>
        </p:spPr>
        <p:txBody>
          <a:bodyPr wrap="square">
            <a:spAutoFit/>
          </a:bodyPr>
          <a:lstStyle/>
          <a:p>
            <a:pPr algn="l"/>
            <a:r>
              <a:rPr sz="2200" b="1" i="0">
                <a:solidFill>
                  <a:srgbClr val="FFFFFF"/>
                </a:solidFill>
                <a:latin typeface="Helvetica Neue"/>
              </a:rPr>
              <a:t>👨‍💻  "Add a static route to all leaf nodes via 10.255.255.1"</a:t>
            </a:r>
          </a:p>
        </p:txBody>
      </p:sp>
      <p:sp>
        <p:nvSpPr>
          <p:cNvPr id="6" name="Rectangle 5"/>
          <p:cNvSpPr/>
          <p:nvPr/>
        </p:nvSpPr>
        <p:spPr>
          <a:xfrm>
            <a:off x="1097280" y="4892040"/>
            <a:ext cx="9966960" cy="1097280"/>
          </a:xfrm>
          <a:prstGeom prst="rect">
            <a:avLst/>
          </a:prstGeom>
          <a:solidFill>
            <a:srgbClr val="02180A"/>
          </a:solidFill>
          <a:ln w="25400">
            <a:solidFill>
              <a:srgbClr val="30D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5029200"/>
            <a:ext cx="9601200" cy="822960"/>
          </a:xfrm>
          <a:prstGeom prst="rect">
            <a:avLst/>
          </a:prstGeom>
          <a:noFill/>
        </p:spPr>
        <p:txBody>
          <a:bodyPr wrap="square">
            <a:spAutoFit/>
          </a:bodyPr>
          <a:lstStyle/>
          <a:p>
            <a:pPr algn="l"/>
            <a:r>
              <a:rPr sz="2200" b="1" i="0">
                <a:solidFill>
                  <a:srgbClr val="30D158"/>
                </a:solidFill>
                <a:latin typeface="Helvetica Neue"/>
              </a:rPr>
              <a:t>🤖  Config generated  ✓   Validated  ✓   Committed to git  ✓   Awaiting approval</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60E27"/>
        </a:solidFill>
        <a:effectLst/>
      </p:bgPr>
    </p:bg>
    <p:spTree>
      <p:nvGrpSpPr>
        <p:cNvPr id="1" name=""/>
        <p:cNvGrpSpPr/>
        <p:nvPr/>
      </p:nvGrpSpPr>
      <p:grpSpPr/>
      <p:sp>
        <p:nvSpPr>
          <p:cNvPr id="2" name="TextBox 1"/>
          <p:cNvSpPr txBox="1"/>
          <p:nvPr/>
        </p:nvSpPr>
        <p:spPr>
          <a:xfrm>
            <a:off x="365760" y="182880"/>
            <a:ext cx="1828800" cy="1371600"/>
          </a:xfrm>
          <a:prstGeom prst="rect">
            <a:avLst/>
          </a:prstGeom>
          <a:noFill/>
        </p:spPr>
        <p:txBody>
          <a:bodyPr wrap="square">
            <a:spAutoFit/>
          </a:bodyPr>
          <a:lstStyle/>
          <a:p>
            <a:pPr algn="l"/>
            <a:r>
              <a:rPr sz="7000" b="0" i="0">
                <a:solidFill>
                  <a:srgbClr val="FFFFFF"/>
                </a:solidFill>
                <a:latin typeface="Helvetica Neue"/>
              </a:rPr>
              <a:t>🎬</a:t>
            </a:r>
          </a:p>
        </p:txBody>
      </p:sp>
      <p:sp>
        <p:nvSpPr>
          <p:cNvPr id="3" name="TextBox 2"/>
          <p:cNvSpPr txBox="1"/>
          <p:nvPr/>
        </p:nvSpPr>
        <p:spPr>
          <a:xfrm>
            <a:off x="1920240" y="274320"/>
            <a:ext cx="3657600" cy="1097280"/>
          </a:xfrm>
          <a:prstGeom prst="rect">
            <a:avLst/>
          </a:prstGeom>
          <a:noFill/>
        </p:spPr>
        <p:txBody>
          <a:bodyPr wrap="square">
            <a:spAutoFit/>
          </a:bodyPr>
          <a:lstStyle/>
          <a:p>
            <a:pPr algn="l"/>
            <a:r>
              <a:rPr sz="6400" b="1" i="0">
                <a:solidFill>
                  <a:srgbClr val="FFD600"/>
                </a:solidFill>
                <a:latin typeface="Helvetica Neue"/>
              </a:rPr>
              <a:t>Demo</a:t>
            </a:r>
          </a:p>
        </p:txBody>
      </p:sp>
      <p:sp>
        <p:nvSpPr>
          <p:cNvPr id="4" name="Rectangle 3"/>
          <p:cNvSpPr/>
          <p:nvPr/>
        </p:nvSpPr>
        <p:spPr>
          <a:xfrm>
            <a:off x="365760" y="1554480"/>
            <a:ext cx="11430000" cy="5029200"/>
          </a:xfrm>
          <a:prstGeom prst="rect">
            <a:avLst/>
          </a:prstGeom>
          <a:solidFill>
            <a:srgbClr val="101016"/>
          </a:solidFill>
          <a:ln w="12700">
            <a:solidFill>
              <a:srgbClr val="6C6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27632"/>
            <a:ext cx="10972800" cy="411480"/>
          </a:xfrm>
          <a:prstGeom prst="rect">
            <a:avLst/>
          </a:prstGeom>
          <a:noFill/>
        </p:spPr>
        <p:txBody>
          <a:bodyPr wrap="square">
            <a:spAutoFit/>
          </a:bodyPr>
          <a:lstStyle/>
          <a:p>
            <a:pPr algn="l"/>
            <a:r>
              <a:rPr sz="1300" b="0" i="0">
                <a:solidFill>
                  <a:srgbClr val="6C6C70"/>
                </a:solidFill>
                <a:latin typeface="Courier New"/>
              </a:rPr>
              <a:t>Argus  ·  AVD Branch: Add-batfish</a:t>
            </a:r>
          </a:p>
        </p:txBody>
      </p:sp>
      <p:sp>
        <p:nvSpPr>
          <p:cNvPr id="6" name="Rectangle 5"/>
          <p:cNvSpPr/>
          <p:nvPr/>
        </p:nvSpPr>
        <p:spPr>
          <a:xfrm>
            <a:off x="365760" y="2084831"/>
            <a:ext cx="11430000" cy="27432"/>
          </a:xfrm>
          <a:prstGeom prst="rect">
            <a:avLst/>
          </a:prstGeom>
          <a:solidFill>
            <a:srgbClr val="6C6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176272"/>
            <a:ext cx="10972800" cy="502920"/>
          </a:xfrm>
          <a:prstGeom prst="rect">
            <a:avLst/>
          </a:prstGeom>
          <a:noFill/>
        </p:spPr>
        <p:txBody>
          <a:bodyPr wrap="square">
            <a:spAutoFit/>
          </a:bodyPr>
          <a:lstStyle/>
          <a:p>
            <a:pPr algn="l"/>
            <a:r>
              <a:rPr sz="1600" b="0" i="0">
                <a:solidFill>
                  <a:srgbClr val="40A5FF"/>
                </a:solidFill>
                <a:latin typeface="Courier New"/>
              </a:rPr>
              <a:t>&gt; "Add a static route 0.0.0.0/0 via 10.255.255.1 to all leaf nodes"</a:t>
            </a:r>
          </a:p>
        </p:txBody>
      </p:sp>
      <p:sp>
        <p:nvSpPr>
          <p:cNvPr id="8" name="TextBox 7"/>
          <p:cNvSpPr txBox="1"/>
          <p:nvPr/>
        </p:nvSpPr>
        <p:spPr>
          <a:xfrm>
            <a:off x="548640" y="2788920"/>
            <a:ext cx="10972800" cy="3474720"/>
          </a:xfrm>
          <a:prstGeom prst="rect">
            <a:avLst/>
          </a:prstGeom>
          <a:noFill/>
        </p:spPr>
        <p:txBody>
          <a:bodyPr wrap="square">
            <a:spAutoFit/>
          </a:bodyPr>
          <a:lstStyle/>
          <a:p>
            <a:pPr algn="l"/>
            <a:r>
              <a:rPr sz="1600" b="0" i="0">
                <a:solidFill>
                  <a:srgbClr val="D1D1D6"/>
                </a:solidFill>
                <a:latin typeface="Courier New"/>
              </a:rPr>
              <a:t>✓  Intent resolved → l3leaf.defaults.structured_config.static_routes
✓  Retrieving schema context (RAG)...
✓  Generating YAML config...
✓  Ansible build passed on attempt 1
✓  Batfish: BGP sessions intact · no routing loops · route reachable ✓
✓  Git branch created: avd/static-route-20260419
⏳ Awaiting your approval to merge...</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30C25"/>
        </a:solidFill>
        <a:effectLst/>
      </p:bgPr>
    </p:bg>
    <p:spTree>
      <p:nvGrpSpPr>
        <p:cNvPr id="1" name=""/>
        <p:cNvGrpSpPr/>
        <p:nvPr/>
      </p:nvGrpSpPr>
      <p:grpSpPr/>
      <p:sp>
        <p:nvSpPr>
          <p:cNvPr id="2" name="TextBox 1"/>
          <p:cNvSpPr txBox="1"/>
          <p:nvPr/>
        </p:nvSpPr>
        <p:spPr>
          <a:xfrm>
            <a:off x="457200" y="182880"/>
            <a:ext cx="11247120" cy="731520"/>
          </a:xfrm>
          <a:prstGeom prst="rect">
            <a:avLst/>
          </a:prstGeom>
          <a:noFill/>
        </p:spPr>
        <p:txBody>
          <a:bodyPr wrap="square">
            <a:spAutoFit/>
          </a:bodyPr>
          <a:lstStyle/>
          <a:p>
            <a:pPr algn="l"/>
            <a:r>
              <a:rPr sz="4400" b="1" i="0">
                <a:solidFill>
                  <a:srgbClr val="FFFFFF"/>
                </a:solidFill>
                <a:latin typeface="Helvetica Neue"/>
              </a:rPr>
              <a:t>Under the Hood</a:t>
            </a:r>
          </a:p>
        </p:txBody>
      </p:sp>
      <p:sp>
        <p:nvSpPr>
          <p:cNvPr id="3" name="Rectangle 2"/>
          <p:cNvSpPr/>
          <p:nvPr/>
        </p:nvSpPr>
        <p:spPr>
          <a:xfrm>
            <a:off x="608076" y="1188720"/>
            <a:ext cx="2011680" cy="4114800"/>
          </a:xfrm>
          <a:prstGeom prst="rect">
            <a:avLst/>
          </a:prstGeom>
          <a:solidFill>
            <a:srgbClr val="06102A"/>
          </a:solidFill>
          <a:ln w="25400">
            <a:solidFill>
              <a:srgbClr val="40A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3796" y="1325880"/>
            <a:ext cx="1920240" cy="1097280"/>
          </a:xfrm>
          <a:prstGeom prst="rect">
            <a:avLst/>
          </a:prstGeom>
          <a:noFill/>
        </p:spPr>
        <p:txBody>
          <a:bodyPr wrap="square">
            <a:spAutoFit/>
          </a:bodyPr>
          <a:lstStyle/>
          <a:p>
            <a:pPr algn="ctr"/>
            <a:r>
              <a:rPr sz="4800" b="0" i="0">
                <a:solidFill>
                  <a:srgbClr val="FFFFFF"/>
                </a:solidFill>
                <a:latin typeface="Helvetica Neue"/>
              </a:rPr>
              <a:t>💬</a:t>
            </a:r>
          </a:p>
        </p:txBody>
      </p:sp>
      <p:sp>
        <p:nvSpPr>
          <p:cNvPr id="5" name="TextBox 4"/>
          <p:cNvSpPr txBox="1"/>
          <p:nvPr/>
        </p:nvSpPr>
        <p:spPr>
          <a:xfrm>
            <a:off x="653796" y="2514600"/>
            <a:ext cx="1920240" cy="594360"/>
          </a:xfrm>
          <a:prstGeom prst="rect">
            <a:avLst/>
          </a:prstGeom>
          <a:noFill/>
        </p:spPr>
        <p:txBody>
          <a:bodyPr wrap="square">
            <a:spAutoFit/>
          </a:bodyPr>
          <a:lstStyle/>
          <a:p>
            <a:pPr algn="ctr"/>
            <a:r>
              <a:rPr sz="2000" b="1" i="0">
                <a:solidFill>
                  <a:srgbClr val="40A5FF"/>
                </a:solidFill>
                <a:latin typeface="Helvetica Neue"/>
              </a:rPr>
              <a:t>You ask</a:t>
            </a:r>
          </a:p>
        </p:txBody>
      </p:sp>
      <p:sp>
        <p:nvSpPr>
          <p:cNvPr id="6" name="TextBox 5"/>
          <p:cNvSpPr txBox="1"/>
          <p:nvPr/>
        </p:nvSpPr>
        <p:spPr>
          <a:xfrm>
            <a:off x="653796" y="3154680"/>
            <a:ext cx="1920240" cy="1005840"/>
          </a:xfrm>
          <a:prstGeom prst="rect">
            <a:avLst/>
          </a:prstGeom>
          <a:noFill/>
        </p:spPr>
        <p:txBody>
          <a:bodyPr wrap="square">
            <a:spAutoFit/>
          </a:bodyPr>
          <a:lstStyle/>
          <a:p>
            <a:pPr algn="ctr"/>
            <a:r>
              <a:rPr sz="1600" b="0" i="0">
                <a:solidFill>
                  <a:srgbClr val="AEAEB2"/>
                </a:solidFill>
                <a:latin typeface="Helvetica Neue"/>
              </a:rPr>
              <a:t>Plain English</a:t>
            </a:r>
          </a:p>
        </p:txBody>
      </p:sp>
      <p:sp>
        <p:nvSpPr>
          <p:cNvPr id="7" name="TextBox 6"/>
          <p:cNvSpPr txBox="1"/>
          <p:nvPr/>
        </p:nvSpPr>
        <p:spPr>
          <a:xfrm>
            <a:off x="2569464" y="2651760"/>
            <a:ext cx="329184" cy="548640"/>
          </a:xfrm>
          <a:prstGeom prst="rect">
            <a:avLst/>
          </a:prstGeom>
          <a:noFill/>
        </p:spPr>
        <p:txBody>
          <a:bodyPr wrap="square">
            <a:spAutoFit/>
          </a:bodyPr>
          <a:lstStyle/>
          <a:p>
            <a:pPr algn="ctr"/>
            <a:r>
              <a:rPr sz="2000" b="0" i="0">
                <a:solidFill>
                  <a:srgbClr val="6C6C70"/>
                </a:solidFill>
                <a:latin typeface="Helvetica Neue"/>
              </a:rPr>
              <a:t>→</a:t>
            </a:r>
          </a:p>
        </p:txBody>
      </p:sp>
      <p:sp>
        <p:nvSpPr>
          <p:cNvPr id="8" name="Rectangle 7"/>
          <p:cNvSpPr/>
          <p:nvPr/>
        </p:nvSpPr>
        <p:spPr>
          <a:xfrm>
            <a:off x="2848356" y="1188720"/>
            <a:ext cx="2011680" cy="4114800"/>
          </a:xfrm>
          <a:prstGeom prst="rect">
            <a:avLst/>
          </a:prstGeom>
          <a:solidFill>
            <a:srgbClr val="06102A"/>
          </a:solidFill>
          <a:ln w="25400">
            <a:solidFill>
              <a:srgbClr val="BF5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94076" y="1325880"/>
            <a:ext cx="1920240" cy="1097280"/>
          </a:xfrm>
          <a:prstGeom prst="rect">
            <a:avLst/>
          </a:prstGeom>
          <a:noFill/>
        </p:spPr>
        <p:txBody>
          <a:bodyPr wrap="square">
            <a:spAutoFit/>
          </a:bodyPr>
          <a:lstStyle/>
          <a:p>
            <a:pPr algn="ctr"/>
            <a:r>
              <a:rPr sz="4800" b="0" i="0">
                <a:solidFill>
                  <a:srgbClr val="FFFFFF"/>
                </a:solidFill>
                <a:latin typeface="Helvetica Neue"/>
              </a:rPr>
              <a:t>📚</a:t>
            </a:r>
          </a:p>
        </p:txBody>
      </p:sp>
      <p:sp>
        <p:nvSpPr>
          <p:cNvPr id="10" name="TextBox 9"/>
          <p:cNvSpPr txBox="1"/>
          <p:nvPr/>
        </p:nvSpPr>
        <p:spPr>
          <a:xfrm>
            <a:off x="2894076" y="2514600"/>
            <a:ext cx="1920240" cy="594360"/>
          </a:xfrm>
          <a:prstGeom prst="rect">
            <a:avLst/>
          </a:prstGeom>
          <a:noFill/>
        </p:spPr>
        <p:txBody>
          <a:bodyPr wrap="square">
            <a:spAutoFit/>
          </a:bodyPr>
          <a:lstStyle/>
          <a:p>
            <a:pPr algn="ctr"/>
            <a:r>
              <a:rPr sz="2000" b="1" i="0">
                <a:solidFill>
                  <a:srgbClr val="BF5AF2"/>
                </a:solidFill>
                <a:latin typeface="Helvetica Neue"/>
              </a:rPr>
              <a:t>RAG + LLM</a:t>
            </a:r>
          </a:p>
        </p:txBody>
      </p:sp>
      <p:sp>
        <p:nvSpPr>
          <p:cNvPr id="11" name="TextBox 10"/>
          <p:cNvSpPr txBox="1"/>
          <p:nvPr/>
        </p:nvSpPr>
        <p:spPr>
          <a:xfrm>
            <a:off x="2894076" y="3154680"/>
            <a:ext cx="1920240" cy="1005840"/>
          </a:xfrm>
          <a:prstGeom prst="rect">
            <a:avLst/>
          </a:prstGeom>
          <a:noFill/>
        </p:spPr>
        <p:txBody>
          <a:bodyPr wrap="square">
            <a:spAutoFit/>
          </a:bodyPr>
          <a:lstStyle/>
          <a:p>
            <a:pPr algn="ctr"/>
            <a:r>
              <a:rPr sz="1600" b="0" i="0">
                <a:solidFill>
                  <a:srgbClr val="AEAEB2"/>
                </a:solidFill>
                <a:latin typeface="Helvetica Neue"/>
              </a:rPr>
              <a:t>Finds right
file &amp; key</a:t>
            </a:r>
          </a:p>
        </p:txBody>
      </p:sp>
      <p:sp>
        <p:nvSpPr>
          <p:cNvPr id="12" name="TextBox 11"/>
          <p:cNvSpPr txBox="1"/>
          <p:nvPr/>
        </p:nvSpPr>
        <p:spPr>
          <a:xfrm>
            <a:off x="4809744" y="2651760"/>
            <a:ext cx="329184" cy="548640"/>
          </a:xfrm>
          <a:prstGeom prst="rect">
            <a:avLst/>
          </a:prstGeom>
          <a:noFill/>
        </p:spPr>
        <p:txBody>
          <a:bodyPr wrap="square">
            <a:spAutoFit/>
          </a:bodyPr>
          <a:lstStyle/>
          <a:p>
            <a:pPr algn="ctr"/>
            <a:r>
              <a:rPr sz="2000" b="0" i="0">
                <a:solidFill>
                  <a:srgbClr val="6C6C70"/>
                </a:solidFill>
                <a:latin typeface="Helvetica Neue"/>
              </a:rPr>
              <a:t>→</a:t>
            </a:r>
          </a:p>
        </p:txBody>
      </p:sp>
      <p:sp>
        <p:nvSpPr>
          <p:cNvPr id="13" name="Rectangle 12"/>
          <p:cNvSpPr/>
          <p:nvPr/>
        </p:nvSpPr>
        <p:spPr>
          <a:xfrm>
            <a:off x="5088636" y="1188720"/>
            <a:ext cx="2011680" cy="4114800"/>
          </a:xfrm>
          <a:prstGeom prst="rect">
            <a:avLst/>
          </a:prstGeom>
          <a:solidFill>
            <a:srgbClr val="06102A"/>
          </a:solidFill>
          <a:ln w="25400">
            <a:solidFill>
              <a:srgbClr val="FFD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34356" y="1325880"/>
            <a:ext cx="1920240" cy="1097280"/>
          </a:xfrm>
          <a:prstGeom prst="rect">
            <a:avLst/>
          </a:prstGeom>
          <a:noFill/>
        </p:spPr>
        <p:txBody>
          <a:bodyPr wrap="square">
            <a:spAutoFit/>
          </a:bodyPr>
          <a:lstStyle/>
          <a:p>
            <a:pPr algn="ctr"/>
            <a:r>
              <a:rPr sz="4800" b="0" i="0">
                <a:solidFill>
                  <a:srgbClr val="FFFFFF"/>
                </a:solidFill>
                <a:latin typeface="Helvetica Neue"/>
              </a:rPr>
              <a:t>📄</a:t>
            </a:r>
          </a:p>
        </p:txBody>
      </p:sp>
      <p:sp>
        <p:nvSpPr>
          <p:cNvPr id="15" name="TextBox 14"/>
          <p:cNvSpPr txBox="1"/>
          <p:nvPr/>
        </p:nvSpPr>
        <p:spPr>
          <a:xfrm>
            <a:off x="5134356" y="2514600"/>
            <a:ext cx="1920240" cy="594360"/>
          </a:xfrm>
          <a:prstGeom prst="rect">
            <a:avLst/>
          </a:prstGeom>
          <a:noFill/>
        </p:spPr>
        <p:txBody>
          <a:bodyPr wrap="square">
            <a:spAutoFit/>
          </a:bodyPr>
          <a:lstStyle/>
          <a:p>
            <a:pPr algn="ctr"/>
            <a:r>
              <a:rPr sz="2000" b="1" i="0">
                <a:solidFill>
                  <a:srgbClr val="FFD600"/>
                </a:solidFill>
                <a:latin typeface="Helvetica Neue"/>
              </a:rPr>
              <a:t>AVD YAML</a:t>
            </a:r>
          </a:p>
        </p:txBody>
      </p:sp>
      <p:sp>
        <p:nvSpPr>
          <p:cNvPr id="16" name="TextBox 15"/>
          <p:cNvSpPr txBox="1"/>
          <p:nvPr/>
        </p:nvSpPr>
        <p:spPr>
          <a:xfrm>
            <a:off x="5134356" y="3154680"/>
            <a:ext cx="1920240" cy="1005840"/>
          </a:xfrm>
          <a:prstGeom prst="rect">
            <a:avLst/>
          </a:prstGeom>
          <a:noFill/>
        </p:spPr>
        <p:txBody>
          <a:bodyPr wrap="square">
            <a:spAutoFit/>
          </a:bodyPr>
          <a:lstStyle/>
          <a:p>
            <a:pPr algn="ctr"/>
            <a:r>
              <a:rPr sz="1600" b="0" i="0">
                <a:solidFill>
                  <a:srgbClr val="AEAEB2"/>
                </a:solidFill>
                <a:latin typeface="Helvetica Neue"/>
              </a:rPr>
              <a:t>Generates
valid config</a:t>
            </a:r>
          </a:p>
        </p:txBody>
      </p:sp>
      <p:sp>
        <p:nvSpPr>
          <p:cNvPr id="17" name="TextBox 16"/>
          <p:cNvSpPr txBox="1"/>
          <p:nvPr/>
        </p:nvSpPr>
        <p:spPr>
          <a:xfrm>
            <a:off x="7050024" y="2651760"/>
            <a:ext cx="329184" cy="548640"/>
          </a:xfrm>
          <a:prstGeom prst="rect">
            <a:avLst/>
          </a:prstGeom>
          <a:noFill/>
        </p:spPr>
        <p:txBody>
          <a:bodyPr wrap="square">
            <a:spAutoFit/>
          </a:bodyPr>
          <a:lstStyle/>
          <a:p>
            <a:pPr algn="ctr"/>
            <a:r>
              <a:rPr sz="2000" b="0" i="0">
                <a:solidFill>
                  <a:srgbClr val="6C6C70"/>
                </a:solidFill>
                <a:latin typeface="Helvetica Neue"/>
              </a:rPr>
              <a:t>→</a:t>
            </a:r>
          </a:p>
        </p:txBody>
      </p:sp>
      <p:sp>
        <p:nvSpPr>
          <p:cNvPr id="18" name="Rectangle 17"/>
          <p:cNvSpPr/>
          <p:nvPr/>
        </p:nvSpPr>
        <p:spPr>
          <a:xfrm>
            <a:off x="7328916" y="1188720"/>
            <a:ext cx="2011680" cy="4114800"/>
          </a:xfrm>
          <a:prstGeom prst="rect">
            <a:avLst/>
          </a:prstGeom>
          <a:solidFill>
            <a:srgbClr val="06102A"/>
          </a:solidFill>
          <a:ln w="25400">
            <a:solidFill>
              <a:srgbClr val="30D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74636" y="1325880"/>
            <a:ext cx="1920240" cy="1097280"/>
          </a:xfrm>
          <a:prstGeom prst="rect">
            <a:avLst/>
          </a:prstGeom>
          <a:noFill/>
        </p:spPr>
        <p:txBody>
          <a:bodyPr wrap="square">
            <a:spAutoFit/>
          </a:bodyPr>
          <a:lstStyle/>
          <a:p>
            <a:pPr algn="ctr"/>
            <a:r>
              <a:rPr sz="4800" b="0" i="0">
                <a:solidFill>
                  <a:srgbClr val="FFFFFF"/>
                </a:solidFill>
                <a:latin typeface="Helvetica Neue"/>
              </a:rPr>
              <a:t>🛡️</a:t>
            </a:r>
          </a:p>
        </p:txBody>
      </p:sp>
      <p:sp>
        <p:nvSpPr>
          <p:cNvPr id="20" name="TextBox 19"/>
          <p:cNvSpPr txBox="1"/>
          <p:nvPr/>
        </p:nvSpPr>
        <p:spPr>
          <a:xfrm>
            <a:off x="7374636" y="2514600"/>
            <a:ext cx="1920240" cy="594360"/>
          </a:xfrm>
          <a:prstGeom prst="rect">
            <a:avLst/>
          </a:prstGeom>
          <a:noFill/>
        </p:spPr>
        <p:txBody>
          <a:bodyPr wrap="square">
            <a:spAutoFit/>
          </a:bodyPr>
          <a:lstStyle/>
          <a:p>
            <a:pPr algn="ctr"/>
            <a:r>
              <a:rPr sz="2000" b="1" i="0">
                <a:solidFill>
                  <a:srgbClr val="30D158"/>
                </a:solidFill>
                <a:latin typeface="Helvetica Neue"/>
              </a:rPr>
              <a:t>Batfish</a:t>
            </a:r>
          </a:p>
        </p:txBody>
      </p:sp>
      <p:sp>
        <p:nvSpPr>
          <p:cNvPr id="21" name="TextBox 20"/>
          <p:cNvSpPr txBox="1"/>
          <p:nvPr/>
        </p:nvSpPr>
        <p:spPr>
          <a:xfrm>
            <a:off x="7374636" y="3154680"/>
            <a:ext cx="1920240" cy="1005840"/>
          </a:xfrm>
          <a:prstGeom prst="rect">
            <a:avLst/>
          </a:prstGeom>
          <a:noFill/>
        </p:spPr>
        <p:txBody>
          <a:bodyPr wrap="square">
            <a:spAutoFit/>
          </a:bodyPr>
          <a:lstStyle/>
          <a:p>
            <a:pPr algn="ctr"/>
            <a:r>
              <a:rPr sz="1600" b="0" i="0">
                <a:solidFill>
                  <a:srgbClr val="AEAEB2"/>
                </a:solidFill>
                <a:latin typeface="Helvetica Neue"/>
              </a:rPr>
              <a:t>Validates
security</a:t>
            </a:r>
          </a:p>
        </p:txBody>
      </p:sp>
      <p:sp>
        <p:nvSpPr>
          <p:cNvPr id="22" name="TextBox 21"/>
          <p:cNvSpPr txBox="1"/>
          <p:nvPr/>
        </p:nvSpPr>
        <p:spPr>
          <a:xfrm>
            <a:off x="9290304" y="2651760"/>
            <a:ext cx="329184" cy="548640"/>
          </a:xfrm>
          <a:prstGeom prst="rect">
            <a:avLst/>
          </a:prstGeom>
          <a:noFill/>
        </p:spPr>
        <p:txBody>
          <a:bodyPr wrap="square">
            <a:spAutoFit/>
          </a:bodyPr>
          <a:lstStyle/>
          <a:p>
            <a:pPr algn="ctr"/>
            <a:r>
              <a:rPr sz="2000" b="0" i="0">
                <a:solidFill>
                  <a:srgbClr val="6C6C70"/>
                </a:solidFill>
                <a:latin typeface="Helvetica Neue"/>
              </a:rPr>
              <a:t>→</a:t>
            </a:r>
          </a:p>
        </p:txBody>
      </p:sp>
      <p:sp>
        <p:nvSpPr>
          <p:cNvPr id="23" name="Rectangle 22"/>
          <p:cNvSpPr/>
          <p:nvPr/>
        </p:nvSpPr>
        <p:spPr>
          <a:xfrm>
            <a:off x="9569196" y="1188720"/>
            <a:ext cx="2011680" cy="4114800"/>
          </a:xfrm>
          <a:prstGeom prst="rect">
            <a:avLst/>
          </a:prstGeom>
          <a:solidFill>
            <a:srgbClr val="06102A"/>
          </a:solidFill>
          <a:ln w="25400">
            <a:solidFill>
              <a:srgbClr val="FF9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4916" y="1325880"/>
            <a:ext cx="1920240" cy="1097280"/>
          </a:xfrm>
          <a:prstGeom prst="rect">
            <a:avLst/>
          </a:prstGeom>
          <a:noFill/>
        </p:spPr>
        <p:txBody>
          <a:bodyPr wrap="square">
            <a:spAutoFit/>
          </a:bodyPr>
          <a:lstStyle/>
          <a:p>
            <a:pPr algn="ctr"/>
            <a:r>
              <a:rPr sz="4800" b="0" i="0">
                <a:solidFill>
                  <a:srgbClr val="FFFFFF"/>
                </a:solidFill>
                <a:latin typeface="Helvetica Neue"/>
              </a:rPr>
              <a:t>📦</a:t>
            </a:r>
          </a:p>
        </p:txBody>
      </p:sp>
      <p:sp>
        <p:nvSpPr>
          <p:cNvPr id="25" name="TextBox 24"/>
          <p:cNvSpPr txBox="1"/>
          <p:nvPr/>
        </p:nvSpPr>
        <p:spPr>
          <a:xfrm>
            <a:off x="9614916" y="2514600"/>
            <a:ext cx="1920240" cy="594360"/>
          </a:xfrm>
          <a:prstGeom prst="rect">
            <a:avLst/>
          </a:prstGeom>
          <a:noFill/>
        </p:spPr>
        <p:txBody>
          <a:bodyPr wrap="square">
            <a:spAutoFit/>
          </a:bodyPr>
          <a:lstStyle/>
          <a:p>
            <a:pPr algn="ctr"/>
            <a:r>
              <a:rPr sz="2000" b="1" i="0">
                <a:solidFill>
                  <a:srgbClr val="FF9F0A"/>
                </a:solidFill>
                <a:latin typeface="Helvetica Neue"/>
              </a:rPr>
              <a:t>Git PR</a:t>
            </a:r>
          </a:p>
        </p:txBody>
      </p:sp>
      <p:sp>
        <p:nvSpPr>
          <p:cNvPr id="26" name="TextBox 25"/>
          <p:cNvSpPr txBox="1"/>
          <p:nvPr/>
        </p:nvSpPr>
        <p:spPr>
          <a:xfrm>
            <a:off x="9614916" y="3154680"/>
            <a:ext cx="1920240" cy="1005840"/>
          </a:xfrm>
          <a:prstGeom prst="rect">
            <a:avLst/>
          </a:prstGeom>
          <a:noFill/>
        </p:spPr>
        <p:txBody>
          <a:bodyPr wrap="square">
            <a:spAutoFit/>
          </a:bodyPr>
          <a:lstStyle/>
          <a:p>
            <a:pPr algn="ctr"/>
            <a:r>
              <a:rPr sz="1600" b="0" i="0">
                <a:solidFill>
                  <a:srgbClr val="AEAEB2"/>
                </a:solidFill>
                <a:latin typeface="Helvetica Neue"/>
              </a:rPr>
              <a:t>Feature branch
+ audit</a:t>
            </a:r>
          </a:p>
        </p:txBody>
      </p:sp>
      <p:sp>
        <p:nvSpPr>
          <p:cNvPr id="27" name="TextBox 26"/>
          <p:cNvSpPr txBox="1"/>
          <p:nvPr/>
        </p:nvSpPr>
        <p:spPr>
          <a:xfrm>
            <a:off x="653796" y="5394960"/>
            <a:ext cx="1920240" cy="1371600"/>
          </a:xfrm>
          <a:prstGeom prst="rect">
            <a:avLst/>
          </a:prstGeom>
          <a:noFill/>
        </p:spPr>
        <p:txBody>
          <a:bodyPr wrap="square">
            <a:spAutoFit/>
          </a:bodyPr>
          <a:lstStyle/>
          <a:p>
            <a:pPr algn="ctr"/>
            <a:r>
              <a:rPr sz="1200" b="0" i="0">
                <a:solidFill>
                  <a:srgbClr val="6C6C70"/>
                </a:solidFill>
                <a:latin typeface="Helvetica Neue"/>
              </a:rPr>
              <a:t>Engineer
describes
what they want</a:t>
            </a:r>
          </a:p>
        </p:txBody>
      </p:sp>
      <p:sp>
        <p:nvSpPr>
          <p:cNvPr id="28" name="TextBox 27"/>
          <p:cNvSpPr txBox="1"/>
          <p:nvPr/>
        </p:nvSpPr>
        <p:spPr>
          <a:xfrm>
            <a:off x="2894076" y="5394960"/>
            <a:ext cx="1920240" cy="1371600"/>
          </a:xfrm>
          <a:prstGeom prst="rect">
            <a:avLst/>
          </a:prstGeom>
          <a:noFill/>
        </p:spPr>
        <p:txBody>
          <a:bodyPr wrap="square">
            <a:spAutoFit/>
          </a:bodyPr>
          <a:lstStyle/>
          <a:p>
            <a:pPr algn="ctr"/>
            <a:r>
              <a:rPr sz="1200" b="0" i="0">
                <a:solidFill>
                  <a:srgbClr val="6C6C70"/>
                </a:solidFill>
                <a:latin typeface="Helvetica Neue"/>
              </a:rPr>
              <a:t>TF-IDF retrieves
relevant schema
context for LLM</a:t>
            </a:r>
          </a:p>
        </p:txBody>
      </p:sp>
      <p:sp>
        <p:nvSpPr>
          <p:cNvPr id="29" name="TextBox 28"/>
          <p:cNvSpPr txBox="1"/>
          <p:nvPr/>
        </p:nvSpPr>
        <p:spPr>
          <a:xfrm>
            <a:off x="5134356" y="5394960"/>
            <a:ext cx="1920240" cy="1371600"/>
          </a:xfrm>
          <a:prstGeom prst="rect">
            <a:avLst/>
          </a:prstGeom>
          <a:noFill/>
        </p:spPr>
        <p:txBody>
          <a:bodyPr wrap="square">
            <a:spAutoFit/>
          </a:bodyPr>
          <a:lstStyle/>
          <a:p>
            <a:pPr algn="ctr"/>
            <a:r>
              <a:rPr sz="1200" b="0" i="0">
                <a:solidFill>
                  <a:srgbClr val="6C6C70"/>
                </a:solidFill>
                <a:latin typeface="Helvetica Neue"/>
              </a:rPr>
              <a:t>Merges into
group_vars/
preserving comments</a:t>
            </a:r>
          </a:p>
        </p:txBody>
      </p:sp>
      <p:sp>
        <p:nvSpPr>
          <p:cNvPr id="30" name="TextBox 29"/>
          <p:cNvSpPr txBox="1"/>
          <p:nvPr/>
        </p:nvSpPr>
        <p:spPr>
          <a:xfrm>
            <a:off x="7374636" y="5394960"/>
            <a:ext cx="1920240" cy="1371600"/>
          </a:xfrm>
          <a:prstGeom prst="rect">
            <a:avLst/>
          </a:prstGeom>
          <a:noFill/>
        </p:spPr>
        <p:txBody>
          <a:bodyPr wrap="square">
            <a:spAutoFit/>
          </a:bodyPr>
          <a:lstStyle/>
          <a:p>
            <a:pPr algn="ctr"/>
            <a:r>
              <a:rPr sz="1200" b="0" i="0">
                <a:solidFill>
                  <a:srgbClr val="6C6C70"/>
                </a:solidFill>
                <a:latin typeface="Helvetica Neue"/>
              </a:rPr>
              <a:t>Runs BEFORE
anything touches
a real device</a:t>
            </a:r>
          </a:p>
        </p:txBody>
      </p:sp>
      <p:sp>
        <p:nvSpPr>
          <p:cNvPr id="31" name="TextBox 30"/>
          <p:cNvSpPr txBox="1"/>
          <p:nvPr/>
        </p:nvSpPr>
        <p:spPr>
          <a:xfrm>
            <a:off x="9614916" y="5394960"/>
            <a:ext cx="1920240" cy="1371600"/>
          </a:xfrm>
          <a:prstGeom prst="rect">
            <a:avLst/>
          </a:prstGeom>
          <a:noFill/>
        </p:spPr>
        <p:txBody>
          <a:bodyPr wrap="square">
            <a:spAutoFit/>
          </a:bodyPr>
          <a:lstStyle/>
          <a:p>
            <a:pPr algn="ctr"/>
            <a:r>
              <a:rPr sz="1200" b="0" i="0">
                <a:solidFill>
                  <a:srgbClr val="6C6C70"/>
                </a:solidFill>
                <a:latin typeface="Helvetica Neue"/>
              </a:rPr>
              <a:t>Human approves
or rejects with
one click</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30C25"/>
        </a:solidFill>
        <a:effectLst/>
      </p:bgPr>
    </p:bg>
    <p:spTree>
      <p:nvGrpSpPr>
        <p:cNvPr id="1" name=""/>
        <p:cNvGrpSpPr/>
        <p:nvPr/>
      </p:nvGrpSpPr>
      <p:grpSpPr/>
      <p:sp>
        <p:nvSpPr>
          <p:cNvPr id="2" name="TextBox 1"/>
          <p:cNvSpPr txBox="1"/>
          <p:nvPr/>
        </p:nvSpPr>
        <p:spPr>
          <a:xfrm>
            <a:off x="274320" y="274320"/>
            <a:ext cx="3474720" cy="3200400"/>
          </a:xfrm>
          <a:prstGeom prst="rect">
            <a:avLst/>
          </a:prstGeom>
          <a:noFill/>
        </p:spPr>
        <p:txBody>
          <a:bodyPr wrap="square">
            <a:spAutoFit/>
          </a:bodyPr>
          <a:lstStyle/>
          <a:p>
            <a:pPr algn="ctr"/>
            <a:r>
              <a:rPr sz="15000" b="0" i="0">
                <a:solidFill>
                  <a:srgbClr val="FFFFFF"/>
                </a:solidFill>
                <a:latin typeface="Helvetica Neue"/>
              </a:rPr>
              <a:t>🛡️</a:t>
            </a:r>
          </a:p>
        </p:txBody>
      </p:sp>
      <p:sp>
        <p:nvSpPr>
          <p:cNvPr id="3" name="TextBox 2"/>
          <p:cNvSpPr txBox="1"/>
          <p:nvPr/>
        </p:nvSpPr>
        <p:spPr>
          <a:xfrm>
            <a:off x="3931920" y="365760"/>
            <a:ext cx="8229600" cy="1188720"/>
          </a:xfrm>
          <a:prstGeom prst="rect">
            <a:avLst/>
          </a:prstGeom>
          <a:noFill/>
        </p:spPr>
        <p:txBody>
          <a:bodyPr wrap="square">
            <a:spAutoFit/>
          </a:bodyPr>
          <a:lstStyle/>
          <a:p>
            <a:pPr algn="l"/>
            <a:r>
              <a:rPr sz="6800" b="1" i="0">
                <a:solidFill>
                  <a:srgbClr val="30D158"/>
                </a:solidFill>
                <a:latin typeface="Helvetica Neue"/>
              </a:rPr>
              <a:t>Batfish</a:t>
            </a:r>
          </a:p>
        </p:txBody>
      </p:sp>
      <p:sp>
        <p:nvSpPr>
          <p:cNvPr id="4" name="TextBox 3"/>
          <p:cNvSpPr txBox="1"/>
          <p:nvPr/>
        </p:nvSpPr>
        <p:spPr>
          <a:xfrm>
            <a:off x="3931920" y="1691640"/>
            <a:ext cx="8229600" cy="1097280"/>
          </a:xfrm>
          <a:prstGeom prst="rect">
            <a:avLst/>
          </a:prstGeom>
          <a:noFill/>
        </p:spPr>
        <p:txBody>
          <a:bodyPr wrap="square">
            <a:spAutoFit/>
          </a:bodyPr>
          <a:lstStyle/>
          <a:p>
            <a:pPr algn="l"/>
            <a:r>
              <a:rPr sz="2400" b="0" i="0">
                <a:solidFill>
                  <a:srgbClr val="D1D1D6"/>
                </a:solidFill>
                <a:latin typeface="Helvetica Neue"/>
              </a:rPr>
              <a:t>Validates network behavior BEFORE
anything touches a real device.</a:t>
            </a:r>
          </a:p>
        </p:txBody>
      </p:sp>
      <p:sp>
        <p:nvSpPr>
          <p:cNvPr id="5" name="TextBox 4"/>
          <p:cNvSpPr txBox="1"/>
          <p:nvPr/>
        </p:nvSpPr>
        <p:spPr>
          <a:xfrm>
            <a:off x="457200" y="3200400"/>
            <a:ext cx="502920" cy="685800"/>
          </a:xfrm>
          <a:prstGeom prst="rect">
            <a:avLst/>
          </a:prstGeom>
          <a:noFill/>
        </p:spPr>
        <p:txBody>
          <a:bodyPr wrap="square">
            <a:spAutoFit/>
          </a:bodyPr>
          <a:lstStyle/>
          <a:p>
            <a:pPr algn="l"/>
            <a:r>
              <a:rPr sz="2800" b="1" i="0">
                <a:solidFill>
                  <a:srgbClr val="30D158"/>
                </a:solidFill>
                <a:latin typeface="Helvetica Neue"/>
              </a:rPr>
              <a:t>✓</a:t>
            </a:r>
          </a:p>
        </p:txBody>
      </p:sp>
      <p:sp>
        <p:nvSpPr>
          <p:cNvPr id="6" name="TextBox 5"/>
          <p:cNvSpPr txBox="1"/>
          <p:nvPr/>
        </p:nvSpPr>
        <p:spPr>
          <a:xfrm>
            <a:off x="1005840" y="3200400"/>
            <a:ext cx="4572000" cy="457200"/>
          </a:xfrm>
          <a:prstGeom prst="rect">
            <a:avLst/>
          </a:prstGeom>
          <a:noFill/>
        </p:spPr>
        <p:txBody>
          <a:bodyPr wrap="square">
            <a:spAutoFit/>
          </a:bodyPr>
          <a:lstStyle/>
          <a:p>
            <a:pPr algn="l"/>
            <a:r>
              <a:rPr sz="2200" b="1" i="0">
                <a:solidFill>
                  <a:srgbClr val="FFFFFF"/>
                </a:solidFill>
                <a:latin typeface="Helvetica Neue"/>
              </a:rPr>
              <a:t>No routing loops</a:t>
            </a:r>
          </a:p>
        </p:txBody>
      </p:sp>
      <p:sp>
        <p:nvSpPr>
          <p:cNvPr id="7" name="TextBox 6"/>
          <p:cNvSpPr txBox="1"/>
          <p:nvPr/>
        </p:nvSpPr>
        <p:spPr>
          <a:xfrm>
            <a:off x="1005840" y="3602736"/>
            <a:ext cx="10972800" cy="411480"/>
          </a:xfrm>
          <a:prstGeom prst="rect">
            <a:avLst/>
          </a:prstGeom>
          <a:noFill/>
        </p:spPr>
        <p:txBody>
          <a:bodyPr wrap="square">
            <a:spAutoFit/>
          </a:bodyPr>
          <a:lstStyle/>
          <a:p>
            <a:pPr algn="l"/>
            <a:r>
              <a:rPr sz="1500" b="0" i="0">
                <a:solidFill>
                  <a:srgbClr val="AEAEB2"/>
                </a:solidFill>
                <a:latin typeface="Helvetica Neue"/>
              </a:rPr>
              <a:t>Verifies all traffic actually reaches its destination</a:t>
            </a:r>
          </a:p>
        </p:txBody>
      </p:sp>
      <p:sp>
        <p:nvSpPr>
          <p:cNvPr id="8" name="TextBox 7"/>
          <p:cNvSpPr txBox="1"/>
          <p:nvPr/>
        </p:nvSpPr>
        <p:spPr>
          <a:xfrm>
            <a:off x="457200" y="4069080"/>
            <a:ext cx="502920" cy="685800"/>
          </a:xfrm>
          <a:prstGeom prst="rect">
            <a:avLst/>
          </a:prstGeom>
          <a:noFill/>
        </p:spPr>
        <p:txBody>
          <a:bodyPr wrap="square">
            <a:spAutoFit/>
          </a:bodyPr>
          <a:lstStyle/>
          <a:p>
            <a:pPr algn="l"/>
            <a:r>
              <a:rPr sz="2800" b="1" i="0">
                <a:solidFill>
                  <a:srgbClr val="30D158"/>
                </a:solidFill>
                <a:latin typeface="Helvetica Neue"/>
              </a:rPr>
              <a:t>✓</a:t>
            </a:r>
          </a:p>
        </p:txBody>
      </p:sp>
      <p:sp>
        <p:nvSpPr>
          <p:cNvPr id="9" name="TextBox 8"/>
          <p:cNvSpPr txBox="1"/>
          <p:nvPr/>
        </p:nvSpPr>
        <p:spPr>
          <a:xfrm>
            <a:off x="1005840" y="4069080"/>
            <a:ext cx="4572000" cy="457200"/>
          </a:xfrm>
          <a:prstGeom prst="rect">
            <a:avLst/>
          </a:prstGeom>
          <a:noFill/>
        </p:spPr>
        <p:txBody>
          <a:bodyPr wrap="square">
            <a:spAutoFit/>
          </a:bodyPr>
          <a:lstStyle/>
          <a:p>
            <a:pPr algn="l"/>
            <a:r>
              <a:rPr sz="2200" b="1" i="0">
                <a:solidFill>
                  <a:srgbClr val="FFFFFF"/>
                </a:solidFill>
                <a:latin typeface="Helvetica Neue"/>
              </a:rPr>
              <a:t>ACL correctness</a:t>
            </a:r>
          </a:p>
        </p:txBody>
      </p:sp>
      <p:sp>
        <p:nvSpPr>
          <p:cNvPr id="10" name="TextBox 9"/>
          <p:cNvSpPr txBox="1"/>
          <p:nvPr/>
        </p:nvSpPr>
        <p:spPr>
          <a:xfrm>
            <a:off x="1005840" y="4471416"/>
            <a:ext cx="10972800" cy="411480"/>
          </a:xfrm>
          <a:prstGeom prst="rect">
            <a:avLst/>
          </a:prstGeom>
          <a:noFill/>
        </p:spPr>
        <p:txBody>
          <a:bodyPr wrap="square">
            <a:spAutoFit/>
          </a:bodyPr>
          <a:lstStyle/>
          <a:p>
            <a:pPr algn="l"/>
            <a:r>
              <a:rPr sz="1500" b="0" i="0">
                <a:solidFill>
                  <a:srgbClr val="AEAEB2"/>
                </a:solidFill>
                <a:latin typeface="Helvetica Neue"/>
              </a:rPr>
              <a:t>Did your access control list do what you intended?</a:t>
            </a:r>
          </a:p>
        </p:txBody>
      </p:sp>
      <p:sp>
        <p:nvSpPr>
          <p:cNvPr id="11" name="TextBox 10"/>
          <p:cNvSpPr txBox="1"/>
          <p:nvPr/>
        </p:nvSpPr>
        <p:spPr>
          <a:xfrm>
            <a:off x="457200" y="4937760"/>
            <a:ext cx="502920" cy="685800"/>
          </a:xfrm>
          <a:prstGeom prst="rect">
            <a:avLst/>
          </a:prstGeom>
          <a:noFill/>
        </p:spPr>
        <p:txBody>
          <a:bodyPr wrap="square">
            <a:spAutoFit/>
          </a:bodyPr>
          <a:lstStyle/>
          <a:p>
            <a:pPr algn="l"/>
            <a:r>
              <a:rPr sz="2800" b="1" i="0">
                <a:solidFill>
                  <a:srgbClr val="30D158"/>
                </a:solidFill>
                <a:latin typeface="Helvetica Neue"/>
              </a:rPr>
              <a:t>✓</a:t>
            </a:r>
          </a:p>
        </p:txBody>
      </p:sp>
      <p:sp>
        <p:nvSpPr>
          <p:cNvPr id="12" name="TextBox 11"/>
          <p:cNvSpPr txBox="1"/>
          <p:nvPr/>
        </p:nvSpPr>
        <p:spPr>
          <a:xfrm>
            <a:off x="1005840" y="4937760"/>
            <a:ext cx="4572000" cy="457200"/>
          </a:xfrm>
          <a:prstGeom prst="rect">
            <a:avLst/>
          </a:prstGeom>
          <a:noFill/>
        </p:spPr>
        <p:txBody>
          <a:bodyPr wrap="square">
            <a:spAutoFit/>
          </a:bodyPr>
          <a:lstStyle/>
          <a:p>
            <a:pPr algn="l"/>
            <a:r>
              <a:rPr sz="2200" b="1" i="0">
                <a:solidFill>
                  <a:srgbClr val="FFFFFF"/>
                </a:solidFill>
                <a:latin typeface="Helvetica Neue"/>
              </a:rPr>
              <a:t>Reachability analysis</a:t>
            </a:r>
          </a:p>
        </p:txBody>
      </p:sp>
      <p:sp>
        <p:nvSpPr>
          <p:cNvPr id="13" name="TextBox 12"/>
          <p:cNvSpPr txBox="1"/>
          <p:nvPr/>
        </p:nvSpPr>
        <p:spPr>
          <a:xfrm>
            <a:off x="1005840" y="5340096"/>
            <a:ext cx="10972800" cy="411480"/>
          </a:xfrm>
          <a:prstGeom prst="rect">
            <a:avLst/>
          </a:prstGeom>
          <a:noFill/>
        </p:spPr>
        <p:txBody>
          <a:bodyPr wrap="square">
            <a:spAutoFit/>
          </a:bodyPr>
          <a:lstStyle/>
          <a:p>
            <a:pPr algn="l"/>
            <a:r>
              <a:rPr sz="1500" b="0" i="0">
                <a:solidFill>
                  <a:srgbClr val="AEAEB2"/>
                </a:solidFill>
                <a:latin typeface="Helvetica Neue"/>
              </a:rPr>
              <a:t>Which hosts can reach which — modeled, not guessed</a:t>
            </a:r>
          </a:p>
        </p:txBody>
      </p:sp>
      <p:sp>
        <p:nvSpPr>
          <p:cNvPr id="14" name="TextBox 13"/>
          <p:cNvSpPr txBox="1"/>
          <p:nvPr/>
        </p:nvSpPr>
        <p:spPr>
          <a:xfrm>
            <a:off x="457200" y="5806440"/>
            <a:ext cx="502920" cy="685800"/>
          </a:xfrm>
          <a:prstGeom prst="rect">
            <a:avLst/>
          </a:prstGeom>
          <a:noFill/>
        </p:spPr>
        <p:txBody>
          <a:bodyPr wrap="square">
            <a:spAutoFit/>
          </a:bodyPr>
          <a:lstStyle/>
          <a:p>
            <a:pPr algn="l"/>
            <a:r>
              <a:rPr sz="2800" b="1" i="0">
                <a:solidFill>
                  <a:srgbClr val="30D158"/>
                </a:solidFill>
                <a:latin typeface="Helvetica Neue"/>
              </a:rPr>
              <a:t>✓</a:t>
            </a:r>
          </a:p>
        </p:txBody>
      </p:sp>
      <p:sp>
        <p:nvSpPr>
          <p:cNvPr id="15" name="TextBox 14"/>
          <p:cNvSpPr txBox="1"/>
          <p:nvPr/>
        </p:nvSpPr>
        <p:spPr>
          <a:xfrm>
            <a:off x="1005840" y="5806440"/>
            <a:ext cx="4572000" cy="457200"/>
          </a:xfrm>
          <a:prstGeom prst="rect">
            <a:avLst/>
          </a:prstGeom>
          <a:noFill/>
        </p:spPr>
        <p:txBody>
          <a:bodyPr wrap="square">
            <a:spAutoFit/>
          </a:bodyPr>
          <a:lstStyle/>
          <a:p>
            <a:pPr algn="l"/>
            <a:r>
              <a:rPr sz="2200" b="1" i="0">
                <a:solidFill>
                  <a:srgbClr val="FFFFFF"/>
                </a:solidFill>
                <a:latin typeface="Helvetica Neue"/>
              </a:rPr>
              <a:t>BGP convergence</a:t>
            </a:r>
          </a:p>
        </p:txBody>
      </p:sp>
      <p:sp>
        <p:nvSpPr>
          <p:cNvPr id="16" name="TextBox 15"/>
          <p:cNvSpPr txBox="1"/>
          <p:nvPr/>
        </p:nvSpPr>
        <p:spPr>
          <a:xfrm>
            <a:off x="1005840" y="6208776"/>
            <a:ext cx="10972800" cy="411480"/>
          </a:xfrm>
          <a:prstGeom prst="rect">
            <a:avLst/>
          </a:prstGeom>
          <a:noFill/>
        </p:spPr>
        <p:txBody>
          <a:bodyPr wrap="square">
            <a:spAutoFit/>
          </a:bodyPr>
          <a:lstStyle/>
          <a:p>
            <a:pPr algn="l"/>
            <a:r>
              <a:rPr sz="1500" b="0" i="0">
                <a:solidFill>
                  <a:srgbClr val="AEAEB2"/>
                </a:solidFill>
                <a:latin typeface="Helvetica Neue"/>
              </a:rPr>
              <a:t>All routing sessions establish correctly</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457200" y="274320"/>
            <a:ext cx="6583680" cy="2011680"/>
          </a:xfrm>
          <a:prstGeom prst="rect">
            <a:avLst/>
          </a:prstGeom>
          <a:noFill/>
        </p:spPr>
        <p:txBody>
          <a:bodyPr wrap="square">
            <a:spAutoFit/>
          </a:bodyPr>
          <a:lstStyle/>
          <a:p>
            <a:pPr algn="l"/>
            <a:r>
              <a:rPr sz="5200" b="1" i="0">
                <a:solidFill>
                  <a:srgbClr val="FFFFFF"/>
                </a:solidFill>
                <a:latin typeface="Helvetica Neue"/>
              </a:rPr>
              <a:t>Every change.
Full audit trail.</a:t>
            </a:r>
          </a:p>
        </p:txBody>
      </p:sp>
      <p:sp>
        <p:nvSpPr>
          <p:cNvPr id="3" name="TextBox 2"/>
          <p:cNvSpPr txBox="1"/>
          <p:nvPr/>
        </p:nvSpPr>
        <p:spPr>
          <a:xfrm>
            <a:off x="7498079" y="182880"/>
            <a:ext cx="4572000" cy="2560320"/>
          </a:xfrm>
          <a:prstGeom prst="rect">
            <a:avLst/>
          </a:prstGeom>
          <a:noFill/>
        </p:spPr>
        <p:txBody>
          <a:bodyPr wrap="square">
            <a:spAutoFit/>
          </a:bodyPr>
          <a:lstStyle/>
          <a:p>
            <a:pPr algn="ctr"/>
            <a:r>
              <a:rPr sz="13000" b="0" i="0">
                <a:solidFill>
                  <a:srgbClr val="FFFFFF"/>
                </a:solidFill>
                <a:latin typeface="Helvetica Neue"/>
              </a:rPr>
              <a:t>🔍</a:t>
            </a:r>
          </a:p>
        </p:txBody>
      </p:sp>
      <p:sp>
        <p:nvSpPr>
          <p:cNvPr id="4" name="Rectangle 3"/>
          <p:cNvSpPr/>
          <p:nvPr/>
        </p:nvSpPr>
        <p:spPr>
          <a:xfrm>
            <a:off x="457200" y="2468880"/>
            <a:ext cx="11430000" cy="4023360"/>
          </a:xfrm>
          <a:prstGeom prst="rect">
            <a:avLst/>
          </a:prstGeom>
          <a:solidFill>
            <a:srgbClr val="16161A"/>
          </a:solidFill>
          <a:ln w="9525">
            <a:solidFill>
              <a:srgbClr val="6C6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2578608"/>
            <a:ext cx="11100816" cy="3803904"/>
          </a:xfrm>
          <a:prstGeom prst="rect">
            <a:avLst/>
          </a:prstGeom>
          <a:noFill/>
        </p:spPr>
        <p:txBody>
          <a:bodyPr wrap="none">
            <a:spAutoFit/>
          </a:bodyPr>
          <a:lstStyle/>
          <a:p>
            <a:pPr algn="l"/>
            <a:r>
              <a:rPr sz="1500" b="0" i="0">
                <a:solidFill>
                  <a:srgbClr val="30D158"/>
                </a:solidFill>
                <a:latin typeface="Courier New"/>
              </a:rPr>
              <a:t>$ git log --oneline
3f2a1c8  avd: block SSH from 0.0.0.0/0 on all L3 leaves
b91e4d2  avd: add VRF PATIENT_DATA to DC1 fabric
a44f120  avd: update spanning-tree priority dc1-leaf1a
7c3e891  avd: add static route 0.0.0.0/0 via 10.255.255.1
2b09f33  agent_runs: logs for run 20260419T024341Z
Author: AVD Agent &lt;avd-agent@local&gt;
Reviewer: ashwin.silla@corp.com  ✓ approved</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457200" y="182880"/>
            <a:ext cx="11247120" cy="731520"/>
          </a:xfrm>
          <a:prstGeom prst="rect">
            <a:avLst/>
          </a:prstGeom>
          <a:noFill/>
        </p:spPr>
        <p:txBody>
          <a:bodyPr wrap="square">
            <a:spAutoFit/>
          </a:bodyPr>
          <a:lstStyle/>
          <a:p>
            <a:pPr algn="ctr"/>
            <a:r>
              <a:rPr sz="4200" b="1" i="0">
                <a:solidFill>
                  <a:srgbClr val="FFFFFF"/>
                </a:solidFill>
                <a:latin typeface="Helvetica Neue"/>
              </a:rPr>
              <a:t>Before  vs  After</a:t>
            </a:r>
          </a:p>
        </p:txBody>
      </p:sp>
      <p:sp>
        <p:nvSpPr>
          <p:cNvPr id="3" name="Rectangle 2"/>
          <p:cNvSpPr/>
          <p:nvPr/>
        </p:nvSpPr>
        <p:spPr>
          <a:xfrm>
            <a:off x="320040" y="1097280"/>
            <a:ext cx="5394960" cy="5394960"/>
          </a:xfrm>
          <a:prstGeom prst="rect">
            <a:avLst/>
          </a:prstGeom>
          <a:solidFill>
            <a:srgbClr val="200606"/>
          </a:solidFill>
          <a:ln w="254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0"/>
            <a:ext cx="5029200" cy="640080"/>
          </a:xfrm>
          <a:prstGeom prst="rect">
            <a:avLst/>
          </a:prstGeom>
          <a:noFill/>
        </p:spPr>
        <p:txBody>
          <a:bodyPr wrap="square">
            <a:spAutoFit/>
          </a:bodyPr>
          <a:lstStyle/>
          <a:p>
            <a:pPr algn="ctr"/>
            <a:r>
              <a:rPr sz="2800" b="1" i="0">
                <a:solidFill>
                  <a:srgbClr val="FF3B30"/>
                </a:solidFill>
                <a:latin typeface="Helvetica Neue"/>
              </a:rPr>
              <a:t>😰  Before</a:t>
            </a:r>
          </a:p>
        </p:txBody>
      </p:sp>
      <p:sp>
        <p:nvSpPr>
          <p:cNvPr id="5" name="TextBox 4"/>
          <p:cNvSpPr txBox="1"/>
          <p:nvPr/>
        </p:nvSpPr>
        <p:spPr>
          <a:xfrm>
            <a:off x="502920" y="1965960"/>
            <a:ext cx="5029200" cy="640080"/>
          </a:xfrm>
          <a:prstGeom prst="rect">
            <a:avLst/>
          </a:prstGeom>
          <a:noFill/>
        </p:spPr>
        <p:txBody>
          <a:bodyPr wrap="square">
            <a:spAutoFit/>
          </a:bodyPr>
          <a:lstStyle/>
          <a:p>
            <a:pPr algn="l"/>
            <a:r>
              <a:rPr sz="1700" b="0" i="0">
                <a:solidFill>
                  <a:srgbClr val="D1D1D6"/>
                </a:solidFill>
                <a:latin typeface="Helvetica Neue"/>
              </a:rPr>
              <a:t>✗  45–90 min per change</a:t>
            </a:r>
          </a:p>
        </p:txBody>
      </p:sp>
      <p:sp>
        <p:nvSpPr>
          <p:cNvPr id="6" name="TextBox 5"/>
          <p:cNvSpPr txBox="1"/>
          <p:nvPr/>
        </p:nvSpPr>
        <p:spPr>
          <a:xfrm>
            <a:off x="502920" y="2679191"/>
            <a:ext cx="5029200" cy="640080"/>
          </a:xfrm>
          <a:prstGeom prst="rect">
            <a:avLst/>
          </a:prstGeom>
          <a:noFill/>
        </p:spPr>
        <p:txBody>
          <a:bodyPr wrap="square">
            <a:spAutoFit/>
          </a:bodyPr>
          <a:lstStyle/>
          <a:p>
            <a:pPr algn="l"/>
            <a:r>
              <a:rPr sz="1700" b="0" i="0">
                <a:solidFill>
                  <a:srgbClr val="D1D1D6"/>
                </a:solidFill>
                <a:latin typeface="Helvetica Neue"/>
              </a:rPr>
              <a:t>✗  Must know AVD schema by heart</a:t>
            </a:r>
          </a:p>
        </p:txBody>
      </p:sp>
      <p:sp>
        <p:nvSpPr>
          <p:cNvPr id="7" name="TextBox 6"/>
          <p:cNvSpPr txBox="1"/>
          <p:nvPr/>
        </p:nvSpPr>
        <p:spPr>
          <a:xfrm>
            <a:off x="502920" y="3392424"/>
            <a:ext cx="5029200" cy="640080"/>
          </a:xfrm>
          <a:prstGeom prst="rect">
            <a:avLst/>
          </a:prstGeom>
          <a:noFill/>
        </p:spPr>
        <p:txBody>
          <a:bodyPr wrap="square">
            <a:spAutoFit/>
          </a:bodyPr>
          <a:lstStyle/>
          <a:p>
            <a:pPr algn="l"/>
            <a:r>
              <a:rPr sz="1700" b="0" i="0">
                <a:solidFill>
                  <a:srgbClr val="D1D1D6"/>
                </a:solidFill>
                <a:latin typeface="Helvetica Neue"/>
              </a:rPr>
              <a:t>✗  0 security validation</a:t>
            </a:r>
          </a:p>
        </p:txBody>
      </p:sp>
      <p:sp>
        <p:nvSpPr>
          <p:cNvPr id="8" name="TextBox 7"/>
          <p:cNvSpPr txBox="1"/>
          <p:nvPr/>
        </p:nvSpPr>
        <p:spPr>
          <a:xfrm>
            <a:off x="502920" y="4105656"/>
            <a:ext cx="5029200" cy="640080"/>
          </a:xfrm>
          <a:prstGeom prst="rect">
            <a:avLst/>
          </a:prstGeom>
          <a:noFill/>
        </p:spPr>
        <p:txBody>
          <a:bodyPr wrap="square">
            <a:spAutoFit/>
          </a:bodyPr>
          <a:lstStyle/>
          <a:p>
            <a:pPr algn="l"/>
            <a:r>
              <a:rPr sz="1700" b="0" i="0">
                <a:solidFill>
                  <a:srgbClr val="D1D1D6"/>
                </a:solidFill>
                <a:latin typeface="Helvetica Neue"/>
              </a:rPr>
              <a:t>✗  YAML diff review (unreadable)</a:t>
            </a:r>
          </a:p>
        </p:txBody>
      </p:sp>
      <p:sp>
        <p:nvSpPr>
          <p:cNvPr id="9" name="TextBox 8"/>
          <p:cNvSpPr txBox="1"/>
          <p:nvPr/>
        </p:nvSpPr>
        <p:spPr>
          <a:xfrm>
            <a:off x="502920" y="4818888"/>
            <a:ext cx="5029200" cy="640080"/>
          </a:xfrm>
          <a:prstGeom prst="rect">
            <a:avLst/>
          </a:prstGeom>
          <a:noFill/>
        </p:spPr>
        <p:txBody>
          <a:bodyPr wrap="square">
            <a:spAutoFit/>
          </a:bodyPr>
          <a:lstStyle/>
          <a:p>
            <a:pPr algn="l"/>
            <a:r>
              <a:rPr sz="1700" b="0" i="0">
                <a:solidFill>
                  <a:srgbClr val="D1D1D6"/>
                </a:solidFill>
                <a:latin typeface="Helvetica Neue"/>
              </a:rPr>
              <a:t>✗  Manual error-prone process</a:t>
            </a:r>
          </a:p>
        </p:txBody>
      </p:sp>
      <p:sp>
        <p:nvSpPr>
          <p:cNvPr id="10" name="TextBox 9"/>
          <p:cNvSpPr txBox="1"/>
          <p:nvPr/>
        </p:nvSpPr>
        <p:spPr>
          <a:xfrm>
            <a:off x="502920" y="5532120"/>
            <a:ext cx="5029200" cy="640080"/>
          </a:xfrm>
          <a:prstGeom prst="rect">
            <a:avLst/>
          </a:prstGeom>
          <a:noFill/>
        </p:spPr>
        <p:txBody>
          <a:bodyPr wrap="square">
            <a:spAutoFit/>
          </a:bodyPr>
          <a:lstStyle/>
          <a:p>
            <a:pPr algn="l"/>
            <a:r>
              <a:rPr sz="1700" b="0" i="0">
                <a:solidFill>
                  <a:srgbClr val="D1D1D6"/>
                </a:solidFill>
                <a:latin typeface="Helvetica Neue"/>
              </a:rPr>
              <a:t>✗  No audit trail of intent</a:t>
            </a:r>
          </a:p>
        </p:txBody>
      </p:sp>
      <p:sp>
        <p:nvSpPr>
          <p:cNvPr id="11" name="TextBox 10"/>
          <p:cNvSpPr txBox="1"/>
          <p:nvPr/>
        </p:nvSpPr>
        <p:spPr>
          <a:xfrm>
            <a:off x="5870448" y="3566160"/>
            <a:ext cx="822960" cy="640080"/>
          </a:xfrm>
          <a:prstGeom prst="rect">
            <a:avLst/>
          </a:prstGeom>
          <a:noFill/>
        </p:spPr>
        <p:txBody>
          <a:bodyPr wrap="square">
            <a:spAutoFit/>
          </a:bodyPr>
          <a:lstStyle/>
          <a:p>
            <a:pPr algn="ctr"/>
            <a:r>
              <a:rPr sz="3200" b="1" i="0">
                <a:solidFill>
                  <a:srgbClr val="6C6C70"/>
                </a:solidFill>
                <a:latin typeface="Helvetica Neue"/>
              </a:rPr>
              <a:t>VS</a:t>
            </a:r>
          </a:p>
        </p:txBody>
      </p:sp>
      <p:sp>
        <p:nvSpPr>
          <p:cNvPr id="12" name="Rectangle 11"/>
          <p:cNvSpPr/>
          <p:nvPr/>
        </p:nvSpPr>
        <p:spPr>
          <a:xfrm>
            <a:off x="6492240" y="1097280"/>
            <a:ext cx="5394960" cy="5394960"/>
          </a:xfrm>
          <a:prstGeom prst="rect">
            <a:avLst/>
          </a:prstGeom>
          <a:solidFill>
            <a:srgbClr val="021808"/>
          </a:solidFill>
          <a:ln w="25400">
            <a:solidFill>
              <a:srgbClr val="30D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0" y="1188720"/>
            <a:ext cx="5029200" cy="640080"/>
          </a:xfrm>
          <a:prstGeom prst="rect">
            <a:avLst/>
          </a:prstGeom>
          <a:noFill/>
        </p:spPr>
        <p:txBody>
          <a:bodyPr wrap="square">
            <a:spAutoFit/>
          </a:bodyPr>
          <a:lstStyle/>
          <a:p>
            <a:pPr algn="ctr"/>
            <a:r>
              <a:rPr sz="2800" b="1" i="0">
                <a:solidFill>
                  <a:srgbClr val="30D158"/>
                </a:solidFill>
                <a:latin typeface="Helvetica Neue"/>
              </a:rPr>
              <a:t>😊  After</a:t>
            </a:r>
          </a:p>
        </p:txBody>
      </p:sp>
      <p:sp>
        <p:nvSpPr>
          <p:cNvPr id="14" name="TextBox 13"/>
          <p:cNvSpPr txBox="1"/>
          <p:nvPr/>
        </p:nvSpPr>
        <p:spPr>
          <a:xfrm>
            <a:off x="6675120" y="1965960"/>
            <a:ext cx="5029200" cy="640080"/>
          </a:xfrm>
          <a:prstGeom prst="rect">
            <a:avLst/>
          </a:prstGeom>
          <a:noFill/>
        </p:spPr>
        <p:txBody>
          <a:bodyPr wrap="square">
            <a:spAutoFit/>
          </a:bodyPr>
          <a:lstStyle/>
          <a:p>
            <a:pPr algn="l"/>
            <a:r>
              <a:rPr sz="1700" b="0" i="0">
                <a:solidFill>
                  <a:srgbClr val="30D158"/>
                </a:solidFill>
                <a:latin typeface="Helvetica Neue"/>
              </a:rPr>
              <a:t>✓  ~2 min per change</a:t>
            </a:r>
          </a:p>
        </p:txBody>
      </p:sp>
      <p:sp>
        <p:nvSpPr>
          <p:cNvPr id="15" name="TextBox 14"/>
          <p:cNvSpPr txBox="1"/>
          <p:nvPr/>
        </p:nvSpPr>
        <p:spPr>
          <a:xfrm>
            <a:off x="6675120" y="2679191"/>
            <a:ext cx="5029200" cy="640080"/>
          </a:xfrm>
          <a:prstGeom prst="rect">
            <a:avLst/>
          </a:prstGeom>
          <a:noFill/>
        </p:spPr>
        <p:txBody>
          <a:bodyPr wrap="square">
            <a:spAutoFit/>
          </a:bodyPr>
          <a:lstStyle/>
          <a:p>
            <a:pPr algn="l"/>
            <a:r>
              <a:rPr sz="1700" b="0" i="0">
                <a:solidFill>
                  <a:srgbClr val="30D158"/>
                </a:solidFill>
                <a:latin typeface="Helvetica Neue"/>
              </a:rPr>
              <a:t>✓  Plain English — no expertise needed</a:t>
            </a:r>
          </a:p>
        </p:txBody>
      </p:sp>
      <p:sp>
        <p:nvSpPr>
          <p:cNvPr id="16" name="TextBox 15"/>
          <p:cNvSpPr txBox="1"/>
          <p:nvPr/>
        </p:nvSpPr>
        <p:spPr>
          <a:xfrm>
            <a:off x="6675120" y="3392424"/>
            <a:ext cx="5029200" cy="640080"/>
          </a:xfrm>
          <a:prstGeom prst="rect">
            <a:avLst/>
          </a:prstGeom>
          <a:noFill/>
        </p:spPr>
        <p:txBody>
          <a:bodyPr wrap="square">
            <a:spAutoFit/>
          </a:bodyPr>
          <a:lstStyle/>
          <a:p>
            <a:pPr algn="l"/>
            <a:r>
              <a:rPr sz="1700" b="0" i="0">
                <a:solidFill>
                  <a:srgbClr val="30D158"/>
                </a:solidFill>
                <a:latin typeface="Helvetica Neue"/>
              </a:rPr>
              <a:t>✓  Batfish validates security</a:t>
            </a:r>
          </a:p>
        </p:txBody>
      </p:sp>
      <p:sp>
        <p:nvSpPr>
          <p:cNvPr id="17" name="TextBox 16"/>
          <p:cNvSpPr txBox="1"/>
          <p:nvPr/>
        </p:nvSpPr>
        <p:spPr>
          <a:xfrm>
            <a:off x="6675120" y="4105656"/>
            <a:ext cx="5029200" cy="640080"/>
          </a:xfrm>
          <a:prstGeom prst="rect">
            <a:avLst/>
          </a:prstGeom>
          <a:noFill/>
        </p:spPr>
        <p:txBody>
          <a:bodyPr wrap="square">
            <a:spAutoFit/>
          </a:bodyPr>
          <a:lstStyle/>
          <a:p>
            <a:pPr algn="l"/>
            <a:r>
              <a:rPr sz="1700" b="0" i="0">
                <a:solidFill>
                  <a:srgbClr val="30D158"/>
                </a:solidFill>
                <a:latin typeface="Helvetica Neue"/>
              </a:rPr>
              <a:t>✓  EOS CLI diff — readable by anyone</a:t>
            </a:r>
          </a:p>
        </p:txBody>
      </p:sp>
      <p:sp>
        <p:nvSpPr>
          <p:cNvPr id="18" name="TextBox 17"/>
          <p:cNvSpPr txBox="1"/>
          <p:nvPr/>
        </p:nvSpPr>
        <p:spPr>
          <a:xfrm>
            <a:off x="6675120" y="4818888"/>
            <a:ext cx="5029200" cy="640080"/>
          </a:xfrm>
          <a:prstGeom prst="rect">
            <a:avLst/>
          </a:prstGeom>
          <a:noFill/>
        </p:spPr>
        <p:txBody>
          <a:bodyPr wrap="square">
            <a:spAutoFit/>
          </a:bodyPr>
          <a:lstStyle/>
          <a:p>
            <a:pPr algn="l"/>
            <a:r>
              <a:rPr sz="1700" b="0" i="0">
                <a:solidFill>
                  <a:srgbClr val="30D158"/>
                </a:solidFill>
                <a:latin typeface="Helvetica Neue"/>
              </a:rPr>
              <a:t>✓  AI handles schema complexity</a:t>
            </a:r>
          </a:p>
        </p:txBody>
      </p:sp>
      <p:sp>
        <p:nvSpPr>
          <p:cNvPr id="19" name="TextBox 18"/>
          <p:cNvSpPr txBox="1"/>
          <p:nvPr/>
        </p:nvSpPr>
        <p:spPr>
          <a:xfrm>
            <a:off x="6675120" y="5532120"/>
            <a:ext cx="5029200" cy="640080"/>
          </a:xfrm>
          <a:prstGeom prst="rect">
            <a:avLst/>
          </a:prstGeom>
          <a:noFill/>
        </p:spPr>
        <p:txBody>
          <a:bodyPr wrap="square">
            <a:spAutoFit/>
          </a:bodyPr>
          <a:lstStyle/>
          <a:p>
            <a:pPr algn="l"/>
            <a:r>
              <a:rPr sz="1700" b="0" i="0">
                <a:solidFill>
                  <a:srgbClr val="30D158"/>
                </a:solidFill>
                <a:latin typeface="Helvetica Neue"/>
              </a:rPr>
              <a:t>✓  Full git audit trail, auto-committed</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2180A"/>
        </a:solidFill>
        <a:effectLst/>
      </p:bgPr>
    </p:bg>
    <p:spTree>
      <p:nvGrpSpPr>
        <p:cNvPr id="1" name=""/>
        <p:cNvGrpSpPr/>
        <p:nvPr/>
      </p:nvGrpSpPr>
      <p:grpSpPr/>
      <p:sp>
        <p:nvSpPr>
          <p:cNvPr id="2" name="TextBox 1"/>
          <p:cNvSpPr txBox="1"/>
          <p:nvPr/>
        </p:nvSpPr>
        <p:spPr>
          <a:xfrm>
            <a:off x="274320" y="365760"/>
            <a:ext cx="5029200" cy="4114800"/>
          </a:xfrm>
          <a:prstGeom prst="rect">
            <a:avLst/>
          </a:prstGeom>
          <a:noFill/>
        </p:spPr>
        <p:txBody>
          <a:bodyPr wrap="square">
            <a:spAutoFit/>
          </a:bodyPr>
          <a:lstStyle/>
          <a:p>
            <a:pPr algn="ctr"/>
            <a:r>
              <a:rPr sz="19000" b="0" i="0">
                <a:solidFill>
                  <a:srgbClr val="FFFFFF"/>
                </a:solidFill>
                <a:latin typeface="Helvetica Neue"/>
              </a:rPr>
              <a:t>😊</a:t>
            </a:r>
          </a:p>
        </p:txBody>
      </p:sp>
      <p:sp>
        <p:nvSpPr>
          <p:cNvPr id="3" name="TextBox 2"/>
          <p:cNvSpPr txBox="1"/>
          <p:nvPr/>
        </p:nvSpPr>
        <p:spPr>
          <a:xfrm>
            <a:off x="5394960" y="640080"/>
            <a:ext cx="6675120" cy="1188720"/>
          </a:xfrm>
          <a:prstGeom prst="rect">
            <a:avLst/>
          </a:prstGeom>
          <a:noFill/>
        </p:spPr>
        <p:txBody>
          <a:bodyPr wrap="square">
            <a:spAutoFit/>
          </a:bodyPr>
          <a:lstStyle/>
          <a:p>
            <a:pPr algn="l"/>
            <a:r>
              <a:rPr sz="5800" b="1" i="0">
                <a:solidFill>
                  <a:srgbClr val="FFFFFF"/>
                </a:solidFill>
                <a:latin typeface="Helvetica Neue"/>
              </a:rPr>
              <a:t>Alex is happy.</a:t>
            </a:r>
          </a:p>
        </p:txBody>
      </p:sp>
      <p:sp>
        <p:nvSpPr>
          <p:cNvPr id="4" name="TextBox 3"/>
          <p:cNvSpPr txBox="1"/>
          <p:nvPr/>
        </p:nvSpPr>
        <p:spPr>
          <a:xfrm>
            <a:off x="5394960" y="2011680"/>
            <a:ext cx="6675120" cy="822960"/>
          </a:xfrm>
          <a:prstGeom prst="rect">
            <a:avLst/>
          </a:prstGeom>
          <a:noFill/>
        </p:spPr>
        <p:txBody>
          <a:bodyPr wrap="square">
            <a:spAutoFit/>
          </a:bodyPr>
          <a:lstStyle/>
          <a:p>
            <a:pPr algn="l"/>
            <a:r>
              <a:rPr sz="3400" b="1" i="0">
                <a:solidFill>
                  <a:srgbClr val="30D158"/>
                </a:solidFill>
                <a:latin typeface="Helvetica Neue"/>
              </a:rPr>
              <a:t>2 hours  →  2 minutes</a:t>
            </a:r>
          </a:p>
        </p:txBody>
      </p:sp>
      <p:sp>
        <p:nvSpPr>
          <p:cNvPr id="5" name="TextBox 4"/>
          <p:cNvSpPr txBox="1"/>
          <p:nvPr/>
        </p:nvSpPr>
        <p:spPr>
          <a:xfrm>
            <a:off x="5394960" y="3017520"/>
            <a:ext cx="6675120" cy="2560320"/>
          </a:xfrm>
          <a:prstGeom prst="rect">
            <a:avLst/>
          </a:prstGeom>
          <a:noFill/>
        </p:spPr>
        <p:txBody>
          <a:bodyPr wrap="square">
            <a:spAutoFit/>
          </a:bodyPr>
          <a:lstStyle/>
          <a:p>
            <a:pPr algn="l"/>
            <a:r>
              <a:rPr sz="2000" b="0" i="0">
                <a:solidFill>
                  <a:srgbClr val="D1D1D6"/>
                </a:solidFill>
                <a:latin typeface="Helvetica Neue"/>
              </a:rPr>
              <a:t>✓  Zero misconfigs in production
✓  Batfish caught 3 security issues before deploy
✓  Full audit trail in git
✓  Junior engineers can make changes safely</a:t>
            </a:r>
          </a:p>
        </p:txBody>
      </p:sp>
      <p:sp>
        <p:nvSpPr>
          <p:cNvPr id="6" name="TextBox 5"/>
          <p:cNvSpPr txBox="1"/>
          <p:nvPr/>
        </p:nvSpPr>
        <p:spPr>
          <a:xfrm>
            <a:off x="457200" y="5852160"/>
            <a:ext cx="11247120" cy="822960"/>
          </a:xfrm>
          <a:prstGeom prst="rect">
            <a:avLst/>
          </a:prstGeom>
          <a:noFill/>
        </p:spPr>
        <p:txBody>
          <a:bodyPr wrap="square">
            <a:spAutoFit/>
          </a:bodyPr>
          <a:lstStyle/>
          <a:p>
            <a:pPr algn="ctr"/>
            <a:r>
              <a:rPr sz="3800" b="1" i="0">
                <a:solidFill>
                  <a:srgbClr val="FFFFFF"/>
                </a:solidFill>
                <a:latin typeface="Helvetica Neue"/>
              </a:rPr>
              <a:t>Questions? 🙋</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